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Wallace, a solution architect. This talk is about modernizing the legacy core of a bank, and where AI fits into that work.</a:t>
            </a:r>
          </a:p>
          <a:p>
            <a:r>
              <a:t>My position in one line: the job is to understand the system first and modernize it second. AI can make the understanding part faster. It should not be the one deciding whether the money is right.</a:t>
            </a:r>
          </a:p>
          <a:p>
            <a:r>
              <a:t>Everything I show, including a small COBOL program, its Java port and the tests, is in a public repo. Link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Banking modernization is not a COBOL to Java translation job. The hard part is the knowledge in the code.</a:t>
            </a:r>
          </a:p>
          <a:p>
            <a:r>
              <a:t>Banks keep mainframes for good reasons. What erodes is everything around them: the people who know the rules are retiring, tests are thin, and every change is slow and risky.</a:t>
            </a:r>
          </a:p>
          <a:p>
            <a:r>
              <a:t>AI makes a faster rewrite tempting. But the bottleneck was never typing speed. It was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group the difficulties in five areas.</a:t>
            </a:r>
          </a:p>
          <a:p>
            <a:r>
              <a:t>People: skills are scarce, and the org chart often mirrors the monolith, so new service boundaries fail unless ownership changes with them.</a:t>
            </a:r>
          </a:p>
          <a:p>
            <a:r>
              <a:t>Technology: the runtime is more than COBOL. CICS, IMS, JCL, schedulers, shared copybooks acting as implicit contracts.</a:t>
            </a:r>
          </a:p>
          <a:p>
            <a:r>
              <a:t>Integration: many consumers, not all of them known, and batch semantics that are easy to lose.</a:t>
            </a:r>
          </a:p>
          <a:p>
            <a:r>
              <a:t>Data: the traps are on the next slide.</a:t>
            </a:r>
          </a:p>
          <a:p>
            <a:r>
              <a:t>Risk: in Europe, DORA expects operational resilience and control over third parties, including cloud and AI providers. And during coexistence the bank pays for two platforms.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details that break a conversion that looks correct.</a:t>
            </a:r>
          </a:p>
          <a:p>
            <a:r>
              <a:t>The one I'll come back to is rounding. A COBOL COMPUTE without the ROUNDED phrase truncates. Java developers reach for rounding by habit. That gap is worth a cent per account, and I'll show it on real code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else in the talk follows from these three.</a:t>
            </a:r>
          </a:p>
          <a:p>
            <a:r>
              <a:t>Line-by-line translation tends to produce what people call JOBOL: Java that keeps the COBOL structure, coupling and batch assumptions, with none of the benefits.</a:t>
            </a:r>
          </a:p>
          <a:p>
            <a:r>
              <a:t>And one practical corollary: decommission, don't just build. Every slice needs a date when the legacy part is switched off, or the bank pays for two platforms indefinitely.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loop for one capability.</a:t>
            </a:r>
          </a:p>
          <a:p>
            <a:r>
              <a:t>Understand: parsers and static analysis map the estate, AI turns the map into readable summaries and candidate rules, and domain experts sign the rules off.</a:t>
            </a:r>
          </a:p>
          <a:p>
            <a:r>
              <a:t>Prove and move: the legacy system is the test oracle, one slice is modernized behind a strangler and an anti-corruption layer, and a shadow run with reconciliation verifies it.</a:t>
            </a:r>
          </a:p>
          <a:p>
            <a:r>
              <a:t>Finish: cut over and decommission. If verification finds breaks, you go back to the rules, not to the code.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single strategy fits a whole bank. Decide per capability, using value, risk and coupling as inputs.</a:t>
            </a:r>
          </a:p>
          <a:p>
            <a:r>
              <a:t>A stable core ledger with a low change rate may be best left on the mainframe and exposed through APIs. A differentiating capability that changes every quarter is a candidate to rebuild. Dead code should simply be retired, once you've checked nobody still reads its output.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recommended pattern is an incremental strangler with controlled coexistence.</a:t>
            </a:r>
          </a:p>
          <a:p>
            <a:r>
              <a:t>The gateway routes migrated capabilities to the new service and everything else through the anti-corruption layer to the mainframe. The mainframe stays the system of record. Change data capture feeds the new service, so nobody writes to both stores from application code.</a:t>
            </a:r>
          </a:p>
          <a:p>
            <a:r>
              <a:t>In shadow mode both sides produce results and the reconciliation engine compares them before any cut-over.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 owns the shape of the transformation.</a:t>
            </a:r>
          </a:p>
          <a:p>
            <a:r>
              <a:t>Two items I'd stress. First, the consistency model: posting and balances need strong consistency, statements and notifications can be eventual. Decide it per capability, not once for the program.</a:t>
            </a:r>
          </a:p>
          <a:p>
            <a:r>
              <a:t>Second, non-functional targets up front, so the new design is measured against the mainframe it replaces.</a:t>
            </a:r>
          </a:p>
          <a:p>
            <a:r>
              <a:t>And prevent the usual anti-patterns: big-bang cut-over weekends, a distributed monolith on one shared database, dual writes, and floating point for money.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AI use case comes with a control. That pairing is the point of this slide.</a:t>
            </a:r>
          </a:p>
          <a:p>
            <a:r>
              <a:t>The context file in the repo has the full table, including architecture reconstruction, data mapping, knowledge transfer and prioritization.</a:t>
            </a:r>
          </a:p>
          <a:p>
            <a:r>
              <a:t>Notice the pattern: AI produces a candidate, and something deterministic or someone accountable checks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The dependency and data-lineage graph comes from deterministic parsers, so dependency facts are reproducible.</a:t>
            </a:r>
          </a:p>
          <a:p>
            <a:r>
              <a:t>The LLM explains and reasons over that graph and the code index, and produces a candidate rule catalog with source links.</a:t>
            </a:r>
          </a:p>
          <a:p>
            <a:r>
              <a:t>Then people take over: domain experts review, characterization tests are written, and they run against the legacy system as the oracle.</a:t>
            </a:r>
          </a:p>
          <a:p>
            <a:r>
              <a:t>Build an evaluation set early, programs whose rules you already know, and measure extraction precision and recall before trusting the pipeline on unknown code.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rule from this talk, make it this one.</a:t>
            </a:r>
          </a:p>
          <a:p>
            <a:r>
              <a:t>On governance: models run inside the bank's approved perimeter, and under DORA the provider is an ICT third party. Data reaching a model is masked or synthetic. Comments and strings in legacy code are untrusted input, so agents get least privilege. Model versions are pinned and prompts stored. And a named human owns each approved rule; AI is recorded as an assistant, not an approver.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small, illustrative example from the repo. Balance times annual rate in percent, divided by 1200, for active accounts. Closed accounts accrue nothing.</a:t>
            </a:r>
          </a:p>
          <a:p>
            <a:r>
              <a:t>The detail that matters is what is missing: there is no ROUNDED phrase. So COBOL truncates the result to the two decimals of the receiving field.</a:t>
            </a:r>
          </a:p>
          <a:p>
            <a:r>
              <a:t>The rule catalog entry for BR-INT-001 in the repo records that, along with the edge cases: negative balances, zero, sub-cent results.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two return lines from the Java class, trimmed for the slide.</a:t>
            </a:r>
          </a:p>
          <a:p>
            <a:r>
              <a:t>Both use BigDecimal with an explicit scale, so neither has the floating-point problem. The second one uses HALF_EVEN, banker's rounding, which looks responsible and would pass a code review.</a:t>
            </a:r>
          </a:p>
          <a:p>
            <a:r>
              <a:t>It is still not what the legacy system does. You only find out by comparing against the legacy outputs.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golden CSV has eight accounts. To be clear: it is an illustrative fixture I worked out by hand from the COBOL semantics, not output captured from a real mainframe.</a:t>
            </a:r>
          </a:p>
          <a:p>
            <a:r>
              <a:t>Against it, the naive port breaks on three of eight accounts, each by one cent. ACC-0007 is an overdraft: truncation toward zero gives minus 1.66, rounding gives minus 1.67.</a:t>
            </a:r>
          </a:p>
          <a:p>
            <a:r>
              <a:t>One cent sounds small. Multiplied across accounts and months, it is a reconciliation break on every business date, and a conversation with the regulator.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Equivalence is the main acceptance criterion for every slice. The one-cent example is a characterization test doing its job.</a:t>
            </a:r>
          </a:p>
          <a:p>
            <a:r>
              <a:t>Reconciliation happens at three levels, because a match at record level can still hide a break in ledger totals.</a:t>
            </a:r>
          </a:p>
          <a:p>
            <a:r>
              <a:t>The parallel run covers at least one full business cycle including month-end, and year-end when it is relevant.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a capability with a clear business owner, low write coupling to the core ledger and outputs you can compare: fee calculation, statement generation or customer inquiry are typical.</a:t>
            </a:r>
          </a:p>
          <a:p>
            <a:r>
              <a:t>Each phase ends at a gate. Scope and AI use approved by security and risk. Rules validated by experts. And zero unexplained breaks before the go/no-go for production traffic.</a:t>
            </a:r>
          </a:p>
          <a:p>
            <a:r>
              <a:t>Agree the go/no-go criteria before the slice is built, not after, and record decisions as ADRs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not showing numbers here, because these depend on your institution. Set a baseline for each one in the first phase and agree a target with stakeholders.</a:t>
            </a:r>
          </a:p>
          <a:p>
            <a:r>
              <a:t>The full list in the repo also covers dependency coverage, characterization coverage, defect escape rate, operational resilience and business value.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questions stall initiatives when they come up late. Put them on the agenda of the first architecture checkpoint.</a:t>
            </a:r>
          </a:p>
          <a:p>
            <a:r>
              <a:t>Regulatory details differ per institution and they change, so check DORA, EBA guidelines and the EU AI Act with your own compliance team.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greatest opportunity for a solution architect using AI. Not a faster rewrite, but faster understanding, with the proof still done by tests, reconciliation and people.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 has the full context file, the rule catalog template with the BR-INT-001 example, the COBOL excerpt, and the Java module with the golden-master test and a reconciler.</a:t>
            </a:r>
          </a:p>
          <a:p>
            <a:r>
              <a:t>Its companion, legacy-modernization-patterns, covers the migration patterns themselves.</a:t>
            </a:r>
          </a:p>
          <a:p>
            <a:r>
              <a:t>Thanks.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TextBox 1"/>
          <p:cNvSpPr txBox="1"/>
          <p:nvPr/>
        </p:nvSpPr>
        <p:spPr>
          <a:xfrm>
            <a:off x="1097280" y="731520"/>
            <a:ext cx="9997135" cy="5394960"/>
          </a:xfrm>
          <a:prstGeom prst="rect">
            <a:avLst/>
          </a:prstGeom>
          <a:noFill/>
        </p:spPr>
        <p:txBody>
          <a:bodyPr wrap="square" lIns="45720" rIns="45720" anchor="ctr">
            <a:spAutoFit/>
          </a:bodyPr>
          <a:lstStyle/>
          <a:p>
            <a:pPr algn="ctr">
              <a:spcAft>
                <a:spcPts val="1800"/>
              </a:spcAft>
            </a:pPr>
            <a:r>
              <a:rPr sz="4000" b="1">
                <a:solidFill>
                  <a:srgbClr val="4ECDC4"/>
                </a:solidFill>
                <a:latin typeface="Arial"/>
              </a:rPr>
              <a:t>Understand, Then Modernize: AI and the Solution Architect in Banking Legacy</a:t>
            </a:r>
          </a:p>
          <a:p>
            <a:pPr algn="ctr"/>
            <a:r>
              <a:rPr sz="2200" b="1">
                <a:solidFill>
                  <a:srgbClr val="FFFFFF"/>
                </a:solidFill>
                <a:latin typeface="Arial"/>
              </a:rPr>
              <a:t>Wallace Espindola</a:t>
            </a:r>
          </a:p>
          <a:p>
            <a:pPr algn="ctr">
              <a:spcAft>
                <a:spcPts val="1400"/>
              </a:spcAft>
            </a:pPr>
            <a:r>
              <a:rPr sz="2200" b="0">
                <a:solidFill>
                  <a:srgbClr val="FFFFFF"/>
                </a:solidFill>
                <a:latin typeface="Arial"/>
              </a:rPr>
              <a:t>Solution Architect</a:t>
            </a:r>
          </a:p>
          <a:p>
            <a:pPr algn="ctr"/>
            <a:r>
              <a:rPr sz="2200" b="0">
                <a:solidFill>
                  <a:srgbClr val="4ECDC4"/>
                </a:solidFill>
                <a:latin typeface="Arial"/>
              </a:rPr>
              <a:t>wallace.espindola@gmail.com</a:t>
            </a:r>
          </a:p>
          <a:p>
            <a:pPr algn="ctr">
              <a:spcAft>
                <a:spcPts val="1400"/>
              </a:spcAft>
            </a:pPr>
            <a:r>
              <a:rPr sz="2200" b="0">
                <a:solidFill>
                  <a:srgbClr val="FFFFFF"/>
                </a:solidFill>
                <a:latin typeface="Arial"/>
              </a:rPr>
              <a:t>linkedin.com/in/wallaceespindola | github.com/wallaceespindola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45720" rIns="45720">
            <a:spAutoFit/>
          </a:bodyPr>
          <a:lstStyle/>
          <a:p>
            <a:r>
              <a:rPr sz="3400" b="1">
                <a:solidFill>
                  <a:srgbClr val="0D1B3E"/>
                </a:solidFill>
                <a:latin typeface="Arial"/>
              </a:rPr>
              <a:t>The problem: knowledge buried in code</a:t>
            </a:r>
          </a:p>
        </p:txBody>
      </p:sp>
      <p:sp>
        <p:nvSpPr>
          <p:cNvPr id="3" name="TextBox 2"/>
          <p:cNvSpPr txBox="1"/>
          <p:nvPr/>
        </p:nvSpPr>
        <p:spPr>
          <a:xfrm>
            <a:off x="548640" y="1325880"/>
            <a:ext cx="11094415" cy="2428240"/>
          </a:xfrm>
          <a:prstGeom prst="rect">
            <a:avLst/>
          </a:prstGeom>
          <a:noFill/>
        </p:spPr>
        <p:txBody>
          <a:bodyPr wrap="square" lIns="45720" rIns="45720">
            <a:spAutoFit/>
          </a:bodyPr>
          <a:lstStyle/>
          <a:p>
            <a:pPr>
              <a:spcAft>
                <a:spcPts val="800"/>
              </a:spcAft>
            </a:pPr>
            <a:r>
              <a:rPr sz="2200" b="0">
                <a:solidFill>
                  <a:srgbClr val="1A2744"/>
                </a:solidFill>
                <a:latin typeface="Arial"/>
              </a:rPr>
              <a:t>•  Decades of </a:t>
            </a:r>
            <a:r>
              <a:rPr sz="2200" b="1">
                <a:solidFill>
                  <a:srgbClr val="1A2744"/>
                </a:solidFill>
                <a:latin typeface="Arial"/>
              </a:rPr>
              <a:t>interest, fee, rounding, eligibility and reconciliation</a:t>
            </a:r>
            <a:r>
              <a:rPr sz="2200" b="0">
                <a:solidFill>
                  <a:srgbClr val="1A2744"/>
                </a:solidFill>
                <a:latin typeface="Arial"/>
              </a:rPr>
              <a:t> rules</a:t>
            </a:r>
          </a:p>
          <a:p>
            <a:pPr>
              <a:spcAft>
                <a:spcPts val="800"/>
              </a:spcAft>
            </a:pPr>
            <a:r>
              <a:rPr sz="2200" b="0">
                <a:solidFill>
                  <a:srgbClr val="1A2744"/>
                </a:solidFill>
                <a:latin typeface="Arial"/>
              </a:rPr>
              <a:t>•  Written down </a:t>
            </a:r>
            <a:r>
              <a:rPr sz="2200" b="1">
                <a:solidFill>
                  <a:srgbClr val="1A2744"/>
                </a:solidFill>
                <a:latin typeface="Arial"/>
              </a:rPr>
              <a:t>only in the code</a:t>
            </a:r>
            <a:r>
              <a:rPr sz="2200" b="0">
                <a:solidFill>
                  <a:srgbClr val="1A2744"/>
                </a:solidFill>
                <a:latin typeface="Arial"/>
              </a:rPr>
              <a:t>, known by a few specialists</a:t>
            </a:r>
          </a:p>
          <a:p>
            <a:pPr>
              <a:spcAft>
                <a:spcPts val="800"/>
              </a:spcAft>
            </a:pPr>
            <a:r>
              <a:rPr sz="2200" b="0">
                <a:solidFill>
                  <a:srgbClr val="1A2744"/>
                </a:solidFill>
                <a:latin typeface="Arial"/>
              </a:rPr>
              <a:t>•  Batch cycles nobody fully remembers</a:t>
            </a:r>
          </a:p>
          <a:p>
            <a:pPr>
              <a:spcAft>
                <a:spcPts val="800"/>
              </a:spcAft>
            </a:pPr>
            <a:r>
              <a:rPr sz="2200" b="0">
                <a:solidFill>
                  <a:srgbClr val="1A2744"/>
                </a:solidFill>
                <a:latin typeface="Arial"/>
              </a:rPr>
              <a:t>•  Data formats that break naive conversions</a:t>
            </a:r>
          </a:p>
          <a:p>
            <a:pPr>
              <a:spcAft>
                <a:spcPts val="800"/>
              </a:spcAft>
            </a:pPr>
            <a:r>
              <a:rPr sz="2200" b="0">
                <a:solidFill>
                  <a:srgbClr val="1A2744"/>
                </a:solidFill>
                <a:latin typeface="Arial"/>
              </a:rPr>
              <a:t>•  Mainframes stay because they are </a:t>
            </a:r>
            <a:r>
              <a:rPr sz="2200" b="1">
                <a:solidFill>
                  <a:srgbClr val="1A2744"/>
                </a:solidFill>
                <a:latin typeface="Arial"/>
              </a:rPr>
              <a:t>fast, stable and audited</a:t>
            </a:r>
          </a:p>
        </p:txBody>
      </p:sp>
      <p:sp>
        <p:nvSpPr>
          <p:cNvPr id="4" name="TextBox 3"/>
          <p:cNvSpPr txBox="1"/>
          <p:nvPr/>
        </p:nvSpPr>
        <p:spPr>
          <a:xfrm>
            <a:off x="548640" y="3937000"/>
            <a:ext cx="11094415" cy="869696"/>
          </a:xfrm>
          <a:prstGeom prst="rect">
            <a:avLst/>
          </a:prstGeom>
          <a:noFill/>
        </p:spPr>
        <p:txBody>
          <a:bodyPr wrap="square" lIns="45720" rIns="45720">
            <a:spAutoFit/>
          </a:bodyPr>
          <a:lstStyle/>
          <a:p>
            <a:pPr>
              <a:spcAft>
                <a:spcPts val="800"/>
              </a:spcAft>
            </a:pPr>
            <a:r>
              <a:rPr sz="2200" b="0">
                <a:solidFill>
                  <a:srgbClr val="1A2744"/>
                </a:solidFill>
                <a:latin typeface="Arial"/>
              </a:rPr>
              <a:t>Rewrite before you understand, and you replace a reliable system with a less reliable 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45720" rIns="45720">
            <a:spAutoFit/>
          </a:bodyPr>
          <a:lstStyle/>
          <a:p>
            <a:r>
              <a:rPr sz="3400" b="1">
                <a:solidFill>
                  <a:srgbClr val="0D1B3E"/>
                </a:solidFill>
                <a:latin typeface="Arial"/>
              </a:rPr>
              <a:t>Why it is hard</a:t>
            </a:r>
          </a:p>
        </p:txBody>
      </p:sp>
      <p:graphicFrame>
        <p:nvGraphicFramePr>
          <p:cNvPr id="3" name="Table 2"/>
          <p:cNvGraphicFramePr>
            <a:graphicFrameLocks noGrp="1"/>
          </p:cNvGraphicFramePr>
          <p:nvPr/>
        </p:nvGraphicFramePr>
        <p:xfrm>
          <a:off x="548640" y="1325880"/>
          <a:ext cx="11094414" cy="2468880"/>
        </p:xfrm>
        <a:graphic>
          <a:graphicData uri="http://schemas.openxmlformats.org/drawingml/2006/table">
            <a:tbl>
              <a:tblPr firstRow="1" bandRow="1">
                <a:tableStyleId>{5C22544A-7EE6-4342-B048-85BDC9FD1C3A}</a:tableStyleId>
              </a:tblPr>
              <a:tblGrid>
                <a:gridCol w="1620532"/>
                <a:gridCol w="9473882"/>
              </a:tblGrid>
              <a:tr h="411480">
                <a:tc>
                  <a:txBody>
                    <a:bodyPr/>
                    <a:lstStyle/>
                    <a:p>
                      <a:r>
                        <a:rPr sz="1800" b="1">
                          <a:solidFill>
                            <a:srgbClr val="FFFFFF"/>
                          </a:solidFill>
                          <a:latin typeface="Arial"/>
                        </a:rPr>
                        <a:t>Area</a:t>
                      </a:r>
                    </a:p>
                  </a:txBody>
                  <a:tcPr marL="73152" marR="73152" marT="36576" marB="36576">
                    <a:solidFill>
                      <a:srgbClr val="455A64"/>
                    </a:solidFill>
                  </a:tcPr>
                </a:tc>
                <a:tc>
                  <a:txBody>
                    <a:bodyPr/>
                    <a:lstStyle/>
                    <a:p>
                      <a:r>
                        <a:rPr sz="1800" b="1">
                          <a:solidFill>
                            <a:srgbClr val="FFFFFF"/>
                          </a:solidFill>
                          <a:latin typeface="Arial"/>
                        </a:rPr>
                        <a:t>Typical difficulty</a:t>
                      </a:r>
                    </a:p>
                  </a:txBody>
                  <a:tcPr marL="73152" marR="73152" marT="36576" marB="36576">
                    <a:solidFill>
                      <a:srgbClr val="455A64"/>
                    </a:solidFill>
                  </a:tcPr>
                </a:tc>
              </a:tr>
              <a:tr h="411480">
                <a:tc>
                  <a:txBody>
                    <a:bodyPr/>
                    <a:lstStyle/>
                    <a:p>
                      <a:r>
                        <a:rPr sz="1800" b="0">
                          <a:solidFill>
                            <a:srgbClr val="1A2744"/>
                          </a:solidFill>
                          <a:latin typeface="Arial"/>
                        </a:rPr>
                        <a:t>People</a:t>
                      </a:r>
                    </a:p>
                  </a:txBody>
                  <a:tcPr marL="73152" marR="73152" marT="36576" marB="36576">
                    <a:solidFill>
                      <a:srgbClr val="FFFFFF"/>
                    </a:solidFill>
                  </a:tcPr>
                </a:tc>
                <a:tc>
                  <a:txBody>
                    <a:bodyPr/>
                    <a:lstStyle/>
                    <a:p>
                      <a:r>
                        <a:rPr sz="1800" b="0">
                          <a:solidFill>
                            <a:srgbClr val="1A2744"/>
                          </a:solidFill>
                          <a:latin typeface="Arial"/>
                        </a:rPr>
                        <a:t>Scarce COBOL skills, rules known by few, org chart mirrors the monolith</a:t>
                      </a:r>
                    </a:p>
                  </a:txBody>
                  <a:tcPr marL="73152" marR="73152" marT="36576" marB="36576">
                    <a:solidFill>
                      <a:srgbClr val="FFFFFF"/>
                    </a:solidFill>
                  </a:tcPr>
                </a:tc>
              </a:tr>
              <a:tr h="411480">
                <a:tc>
                  <a:txBody>
                    <a:bodyPr/>
                    <a:lstStyle/>
                    <a:p>
                      <a:r>
                        <a:rPr sz="1800" b="0">
                          <a:solidFill>
                            <a:srgbClr val="1A2744"/>
                          </a:solidFill>
                          <a:latin typeface="Arial"/>
                        </a:rPr>
                        <a:t>Technology</a:t>
                      </a:r>
                    </a:p>
                  </a:txBody>
                  <a:tcPr marL="73152" marR="73152" marT="36576" marB="36576">
                    <a:solidFill>
                      <a:srgbClr val="EEF0F2"/>
                    </a:solidFill>
                  </a:tcPr>
                </a:tc>
                <a:tc>
                  <a:txBody>
                    <a:bodyPr/>
                    <a:lstStyle/>
                    <a:p>
                      <a:r>
                        <a:rPr sz="1800" b="0">
                          <a:solidFill>
                            <a:srgbClr val="1A2744"/>
                          </a:solidFill>
                          <a:latin typeface="Arial"/>
                        </a:rPr>
                        <a:t>Coupled programs, CICS/IMS, JCL and schedulers, dead and duplicated code</a:t>
                      </a:r>
                    </a:p>
                  </a:txBody>
                  <a:tcPr marL="73152" marR="73152" marT="36576" marB="36576">
                    <a:solidFill>
                      <a:srgbClr val="EEF0F2"/>
                    </a:solidFill>
                  </a:tcPr>
                </a:tc>
              </a:tr>
              <a:tr h="411480">
                <a:tc>
                  <a:txBody>
                    <a:bodyPr/>
                    <a:lstStyle/>
                    <a:p>
                      <a:r>
                        <a:rPr sz="1800" b="0">
                          <a:solidFill>
                            <a:srgbClr val="1A2744"/>
                          </a:solidFill>
                          <a:latin typeface="Arial"/>
                        </a:rPr>
                        <a:t>Integration</a:t>
                      </a:r>
                    </a:p>
                  </a:txBody>
                  <a:tcPr marL="73152" marR="73152" marT="36576" marB="36576">
                    <a:solidFill>
                      <a:srgbClr val="FFFFFF"/>
                    </a:solidFill>
                  </a:tcPr>
                </a:tc>
                <a:tc>
                  <a:txBody>
                    <a:bodyPr/>
                    <a:lstStyle/>
                    <a:p>
                      <a:r>
                        <a:rPr sz="1800" b="0">
                          <a:solidFill>
                            <a:srgbClr val="1A2744"/>
                          </a:solidFill>
                          <a:latin typeface="Arial"/>
                        </a:rPr>
                        <a:t>Payments, cards, risk, reporting; overnight batch next to real-time channels</a:t>
                      </a:r>
                    </a:p>
                  </a:txBody>
                  <a:tcPr marL="73152" marR="73152" marT="36576" marB="36576">
                    <a:solidFill>
                      <a:srgbClr val="FFFFFF"/>
                    </a:solidFill>
                  </a:tcPr>
                </a:tc>
              </a:tr>
              <a:tr h="411480">
                <a:tc>
                  <a:txBody>
                    <a:bodyPr/>
                    <a:lstStyle/>
                    <a:p>
                      <a:r>
                        <a:rPr sz="1800" b="0">
                          <a:solidFill>
                            <a:srgbClr val="1A2744"/>
                          </a:solidFill>
                          <a:latin typeface="Arial"/>
                        </a:rPr>
                        <a:t>Data</a:t>
                      </a:r>
                    </a:p>
                  </a:txBody>
                  <a:tcPr marL="73152" marR="73152" marT="36576" marB="36576">
                    <a:solidFill>
                      <a:srgbClr val="EEF0F2"/>
                    </a:solidFill>
                  </a:tcPr>
                </a:tc>
                <a:tc>
                  <a:txBody>
                    <a:bodyPr/>
                    <a:lstStyle/>
                    <a:p>
                      <a:r>
                        <a:rPr sz="1800" b="0">
                          <a:solidFill>
                            <a:srgbClr val="1A2744"/>
                          </a:solidFill>
                          <a:latin typeface="Arial"/>
                        </a:rPr>
                        <a:t>DB2, VSAM, </a:t>
                      </a:r>
                      <a:r>
                        <a:rPr sz="1800" b="0">
                          <a:solidFill>
                            <a:srgbClr val="1A2744"/>
                          </a:solidFill>
                          <a:latin typeface="Courier New"/>
                        </a:rPr>
                        <a:t>COMP-3</a:t>
                      </a:r>
                      <a:r>
                        <a:rPr sz="1800" b="0">
                          <a:solidFill>
                            <a:srgbClr val="1A2744"/>
                          </a:solidFill>
                          <a:latin typeface="Arial"/>
                        </a:rPr>
                        <a:t>, encoding, dates, rounding, sync during coexistence</a:t>
                      </a:r>
                    </a:p>
                  </a:txBody>
                  <a:tcPr marL="73152" marR="73152" marT="36576" marB="36576">
                    <a:solidFill>
                      <a:srgbClr val="EEF0F2"/>
                    </a:solidFill>
                  </a:tcPr>
                </a:tc>
              </a:tr>
              <a:tr h="411480">
                <a:tc>
                  <a:txBody>
                    <a:bodyPr/>
                    <a:lstStyle/>
                    <a:p>
                      <a:r>
                        <a:rPr sz="1800" b="0">
                          <a:solidFill>
                            <a:srgbClr val="1A2744"/>
                          </a:solidFill>
                          <a:latin typeface="Arial"/>
                        </a:rPr>
                        <a:t>Risk and cost</a:t>
                      </a:r>
                    </a:p>
                  </a:txBody>
                  <a:tcPr marL="73152" marR="73152" marT="36576" marB="36576">
                    <a:solidFill>
                      <a:srgbClr val="FFFFFF"/>
                    </a:solidFill>
                  </a:tcPr>
                </a:tc>
                <a:tc>
                  <a:txBody>
                    <a:bodyPr/>
                    <a:lstStyle/>
                    <a:p>
                      <a:r>
                        <a:rPr sz="1800" b="0">
                          <a:solidFill>
                            <a:srgbClr val="1A2744"/>
                          </a:solidFill>
                          <a:latin typeface="Arial"/>
                        </a:rPr>
                        <a:t>Availability, DORA, double-run cost, a less reliable target</a:t>
                      </a:r>
                    </a:p>
                  </a:txBody>
                  <a:tcPr marL="73152" marR="73152" marT="36576" marB="36576">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45720" rIns="45720">
            <a:spAutoFit/>
          </a:bodyPr>
          <a:lstStyle/>
          <a:p>
            <a:r>
              <a:rPr sz="3400" b="1">
                <a:solidFill>
                  <a:srgbClr val="0D1B3E"/>
                </a:solidFill>
                <a:latin typeface="Arial"/>
              </a:rPr>
              <a:t>The data traps generic lists leave out</a:t>
            </a:r>
          </a:p>
        </p:txBody>
      </p:sp>
      <p:sp>
        <p:nvSpPr>
          <p:cNvPr id="3" name="TextBox 2"/>
          <p:cNvSpPr txBox="1"/>
          <p:nvPr/>
        </p:nvSpPr>
        <p:spPr>
          <a:xfrm>
            <a:off x="548640" y="1325880"/>
            <a:ext cx="11094415" cy="3681984"/>
          </a:xfrm>
          <a:prstGeom prst="rect">
            <a:avLst/>
          </a:prstGeom>
          <a:noFill/>
        </p:spPr>
        <p:txBody>
          <a:bodyPr wrap="square" lIns="45720" rIns="45720">
            <a:spAutoFit/>
          </a:bodyPr>
          <a:lstStyle/>
          <a:p>
            <a:pPr>
              <a:spcAft>
                <a:spcPts val="800"/>
              </a:spcAft>
            </a:pPr>
            <a:r>
              <a:rPr sz="2200" b="0">
                <a:solidFill>
                  <a:srgbClr val="1A2744"/>
                </a:solidFill>
                <a:latin typeface="Arial"/>
              </a:rPr>
              <a:t>•  </a:t>
            </a:r>
            <a:r>
              <a:rPr sz="2200" b="0">
                <a:solidFill>
                  <a:srgbClr val="1A2744"/>
                </a:solidFill>
                <a:latin typeface="Courier New"/>
              </a:rPr>
              <a:t>COMP-3</a:t>
            </a:r>
            <a:r>
              <a:rPr sz="2200" b="0">
                <a:solidFill>
                  <a:srgbClr val="1A2744"/>
                </a:solidFill>
                <a:latin typeface="Arial"/>
              </a:rPr>
              <a:t> packed decimal, signed zoned decimal, </a:t>
            </a:r>
            <a:r>
              <a:rPr sz="2200" b="0">
                <a:solidFill>
                  <a:srgbClr val="1A2744"/>
                </a:solidFill>
                <a:latin typeface="Courier New"/>
              </a:rPr>
              <a:t>REDEFINES</a:t>
            </a:r>
            <a:r>
              <a:rPr sz="2200" b="0">
                <a:solidFill>
                  <a:srgbClr val="1A2744"/>
                </a:solidFill>
                <a:latin typeface="Arial"/>
              </a:rPr>
              <a:t>, </a:t>
            </a:r>
            <a:r>
              <a:rPr sz="2200" b="0">
                <a:solidFill>
                  <a:srgbClr val="1A2744"/>
                </a:solidFill>
                <a:latin typeface="Courier New"/>
              </a:rPr>
              <a:t>OCCURS DEPENDING ON</a:t>
            </a:r>
          </a:p>
          <a:p>
            <a:pPr>
              <a:spcAft>
                <a:spcPts val="800"/>
              </a:spcAft>
            </a:pPr>
            <a:r>
              <a:rPr sz="2200" b="0">
                <a:solidFill>
                  <a:srgbClr val="1A2744"/>
                </a:solidFill>
                <a:latin typeface="Arial"/>
              </a:rPr>
              <a:t>•  Implied decimal points: </a:t>
            </a:r>
            <a:r>
              <a:rPr sz="2200" b="0">
                <a:solidFill>
                  <a:srgbClr val="1A2744"/>
                </a:solidFill>
                <a:latin typeface="Courier New"/>
              </a:rPr>
              <a:t>PIC 9(7)V99</a:t>
            </a:r>
          </a:p>
          <a:p>
            <a:pPr>
              <a:spcAft>
                <a:spcPts val="800"/>
              </a:spcAft>
            </a:pPr>
            <a:r>
              <a:rPr sz="2200" b="0">
                <a:solidFill>
                  <a:srgbClr val="1A2744"/>
                </a:solidFill>
                <a:latin typeface="Arial"/>
              </a:rPr>
              <a:t>•  EBCDIC collation is not ASCII sort order</a:t>
            </a:r>
          </a:p>
          <a:p>
            <a:pPr>
              <a:spcAft>
                <a:spcPts val="800"/>
              </a:spcAft>
            </a:pPr>
            <a:r>
              <a:rPr sz="2200" b="0">
                <a:solidFill>
                  <a:srgbClr val="1A2744"/>
                </a:solidFill>
                <a:latin typeface="Arial"/>
              </a:rPr>
              <a:t>•  </a:t>
            </a:r>
            <a:r>
              <a:rPr sz="2200" b="1">
                <a:solidFill>
                  <a:srgbClr val="1A2744"/>
                </a:solidFill>
                <a:latin typeface="Arial"/>
              </a:rPr>
              <a:t>COBOL truncates</a:t>
            </a:r>
            <a:r>
              <a:rPr sz="2200" b="0">
                <a:solidFill>
                  <a:srgbClr val="1A2744"/>
                </a:solidFill>
                <a:latin typeface="Arial"/>
              </a:rPr>
              <a:t> unless </a:t>
            </a:r>
            <a:r>
              <a:rPr sz="2200" b="0">
                <a:solidFill>
                  <a:srgbClr val="1A2744"/>
                </a:solidFill>
                <a:latin typeface="Courier New"/>
              </a:rPr>
              <a:t>ROUNDED</a:t>
            </a:r>
            <a:r>
              <a:rPr sz="2200" b="0">
                <a:solidFill>
                  <a:srgbClr val="1A2744"/>
                </a:solidFill>
                <a:latin typeface="Arial"/>
              </a:rPr>
              <a:t> is specified</a:t>
            </a:r>
          </a:p>
          <a:p>
            <a:pPr>
              <a:spcAft>
                <a:spcPts val="800"/>
              </a:spcAft>
            </a:pPr>
            <a:r>
              <a:rPr sz="2200" b="0">
                <a:solidFill>
                  <a:srgbClr val="1A2744"/>
                </a:solidFill>
                <a:latin typeface="Arial"/>
              </a:rPr>
              <a:t>•  Julian dates, century windowing, business-day calendars</a:t>
            </a:r>
          </a:p>
          <a:p>
            <a:pPr>
              <a:spcAft>
                <a:spcPts val="800"/>
              </a:spcAft>
            </a:pPr>
            <a:r>
              <a:rPr sz="2200" b="0">
                <a:solidFill>
                  <a:srgbClr val="1A2744"/>
                </a:solidFill>
                <a:latin typeface="Arial"/>
              </a:rPr>
              <a:t>•  Batch restart: checkpoints, end-of-day ordering, exactly once per business date</a:t>
            </a:r>
          </a:p>
        </p:txBody>
      </p:sp>
      <p:sp>
        <p:nvSpPr>
          <p:cNvPr id="4" name="TextBox 3"/>
          <p:cNvSpPr txBox="1"/>
          <p:nvPr/>
        </p:nvSpPr>
        <p:spPr>
          <a:xfrm>
            <a:off x="548640" y="5190744"/>
            <a:ext cx="11094415" cy="869696"/>
          </a:xfrm>
          <a:prstGeom prst="rect">
            <a:avLst/>
          </a:prstGeom>
          <a:noFill/>
        </p:spPr>
        <p:txBody>
          <a:bodyPr wrap="square" lIns="45720" rIns="45720">
            <a:spAutoFit/>
          </a:bodyPr>
          <a:lstStyle/>
          <a:p>
            <a:pPr>
              <a:spcAft>
                <a:spcPts val="800"/>
              </a:spcAft>
            </a:pPr>
            <a:r>
              <a:rPr sz="2200" b="0">
                <a:solidFill>
                  <a:srgbClr val="1A2744"/>
                </a:solidFill>
                <a:latin typeface="Arial"/>
              </a:rPr>
              <a:t>Target code uses </a:t>
            </a:r>
            <a:r>
              <a:rPr sz="2200" b="0">
                <a:solidFill>
                  <a:srgbClr val="1A2744"/>
                </a:solidFill>
                <a:latin typeface="Courier New"/>
              </a:rPr>
              <a:t>BigDecimal</a:t>
            </a:r>
            <a:r>
              <a:rPr sz="2200" b="0">
                <a:solidFill>
                  <a:srgbClr val="1A2744"/>
                </a:solidFill>
                <a:latin typeface="Arial"/>
              </a:rPr>
              <a:t> with explicit scale and </a:t>
            </a:r>
            <a:r>
              <a:rPr sz="2200" b="0">
                <a:solidFill>
                  <a:srgbClr val="1A2744"/>
                </a:solidFill>
                <a:latin typeface="Courier New"/>
              </a:rPr>
              <a:t>RoundingMode</a:t>
            </a:r>
            <a:r>
              <a:rPr sz="2200" b="0">
                <a:solidFill>
                  <a:srgbClr val="1A2744"/>
                </a:solidFill>
                <a:latin typeface="Arial"/>
              </a:rPr>
              <a:t>, never </a:t>
            </a:r>
            <a:r>
              <a:rPr sz="2200" b="0">
                <a:solidFill>
                  <a:srgbClr val="1A2744"/>
                </a:solidFill>
                <a:latin typeface="Courier New"/>
              </a:rPr>
              <a:t>double</a:t>
            </a:r>
            <a:r>
              <a:rPr sz="2200" b="0">
                <a:solidFill>
                  <a:srgbClr val="1A2744"/>
                </a:solidFill>
                <a:latin typeface="Arial"/>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45720" rIns="45720">
            <a:spAutoFit/>
          </a:bodyPr>
          <a:lstStyle/>
          <a:p>
            <a:r>
              <a:rPr sz="3400" b="1">
                <a:solidFill>
                  <a:srgbClr val="0D1B3E"/>
                </a:solidFill>
                <a:latin typeface="Arial"/>
              </a:rPr>
              <a:t>Three principles</a:t>
            </a:r>
          </a:p>
        </p:txBody>
      </p:sp>
      <p:sp>
        <p:nvSpPr>
          <p:cNvPr id="3" name="TextBox 2"/>
          <p:cNvSpPr txBox="1"/>
          <p:nvPr/>
        </p:nvSpPr>
        <p:spPr>
          <a:xfrm>
            <a:off x="548640" y="1325880"/>
            <a:ext cx="11094415" cy="2225040"/>
          </a:xfrm>
          <a:prstGeom prst="rect">
            <a:avLst/>
          </a:prstGeom>
          <a:noFill/>
        </p:spPr>
        <p:txBody>
          <a:bodyPr wrap="square" lIns="45720" rIns="45720">
            <a:spAutoFit/>
          </a:bodyPr>
          <a:lstStyle/>
          <a:p>
            <a:pPr>
              <a:spcAft>
                <a:spcPts val="800"/>
              </a:spcAft>
            </a:pPr>
            <a:r>
              <a:rPr sz="2200" b="0">
                <a:solidFill>
                  <a:srgbClr val="1A2744"/>
                </a:solidFill>
                <a:latin typeface="Arial"/>
              </a:rPr>
              <a:t>1.  </a:t>
            </a:r>
            <a:r>
              <a:rPr sz="2200" b="1">
                <a:solidFill>
                  <a:srgbClr val="1A2744"/>
                </a:solidFill>
                <a:latin typeface="Arial"/>
              </a:rPr>
              <a:t>Modernize capabilities, not code.</a:t>
            </a:r>
            <a:r>
              <a:rPr sz="2200" b="0">
                <a:solidFill>
                  <a:srgbClr val="1A2744"/>
                </a:solidFill>
                <a:latin typeface="Arial"/>
              </a:rPr>
              <a:t> The unit of change is a business capability, not a program or a language.</a:t>
            </a:r>
          </a:p>
          <a:p>
            <a:pPr>
              <a:spcAft>
                <a:spcPts val="800"/>
              </a:spcAft>
            </a:pPr>
            <a:r>
              <a:rPr sz="2200" b="0">
                <a:solidFill>
                  <a:srgbClr val="1A2744"/>
                </a:solidFill>
                <a:latin typeface="Arial"/>
              </a:rPr>
              <a:t>2.  </a:t>
            </a:r>
            <a:r>
              <a:rPr sz="2200" b="1">
                <a:solidFill>
                  <a:srgbClr val="1A2744"/>
                </a:solidFill>
                <a:latin typeface="Arial"/>
              </a:rPr>
              <a:t>Correctness is proven, not assumed.</a:t>
            </a:r>
            <a:r>
              <a:rPr sz="2200" b="0">
                <a:solidFill>
                  <a:srgbClr val="1A2744"/>
                </a:solidFill>
                <a:latin typeface="Arial"/>
              </a:rPr>
              <a:t> Characterization tests, parallel runs and ledger-level reconciliation decide when a slice is done.</a:t>
            </a:r>
          </a:p>
          <a:p>
            <a:pPr>
              <a:spcAft>
                <a:spcPts val="800"/>
              </a:spcAft>
            </a:pPr>
            <a:r>
              <a:rPr sz="2200" b="0">
                <a:solidFill>
                  <a:srgbClr val="1A2744"/>
                </a:solidFill>
                <a:latin typeface="Arial"/>
              </a:rPr>
              <a:t>3.  </a:t>
            </a:r>
            <a:r>
              <a:rPr sz="2200" b="1">
                <a:solidFill>
                  <a:srgbClr val="1A2744"/>
                </a:solidFill>
                <a:latin typeface="Arial"/>
              </a:rPr>
              <a:t>AI proposes, deterministic tooling verifies, humans approve.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45720" rIns="45720">
            <a:spAutoFit/>
          </a:bodyPr>
          <a:lstStyle/>
          <a:p>
            <a:r>
              <a:rPr sz="3400" b="1">
                <a:solidFill>
                  <a:srgbClr val="0D1B3E"/>
                </a:solidFill>
                <a:latin typeface="Arial"/>
              </a:rPr>
              <a:t>The modernization loop</a:t>
            </a:r>
          </a:p>
        </p:txBody>
      </p:sp>
      <p:pic>
        <p:nvPicPr>
          <p:cNvPr id="3" name="Picture 2" descr="modernization-loop.png"/>
          <p:cNvPicPr>
            <a:picLocks noChangeAspect="1"/>
          </p:cNvPicPr>
          <p:nvPr/>
        </p:nvPicPr>
        <p:blipFill>
          <a:blip r:embed="rId2"/>
          <a:stretch>
            <a:fillRect/>
          </a:stretch>
        </p:blipFill>
        <p:spPr>
          <a:xfrm>
            <a:off x="2680648" y="1325880"/>
            <a:ext cx="6830398" cy="51663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45720" rIns="45720">
            <a:spAutoFit/>
          </a:bodyPr>
          <a:lstStyle/>
          <a:p>
            <a:r>
              <a:rPr sz="3400" b="1">
                <a:solidFill>
                  <a:srgbClr val="0D1B3E"/>
                </a:solidFill>
                <a:latin typeface="Arial"/>
              </a:rPr>
              <a:t>Strategy options, decided per capability</a:t>
            </a:r>
          </a:p>
        </p:txBody>
      </p:sp>
      <p:graphicFrame>
        <p:nvGraphicFramePr>
          <p:cNvPr id="3" name="Table 2"/>
          <p:cNvGraphicFramePr>
            <a:graphicFrameLocks noGrp="1"/>
          </p:cNvGraphicFramePr>
          <p:nvPr/>
        </p:nvGraphicFramePr>
        <p:xfrm>
          <a:off x="548640" y="1325880"/>
          <a:ext cx="11094413" cy="2880360"/>
        </p:xfrm>
        <a:graphic>
          <a:graphicData uri="http://schemas.openxmlformats.org/drawingml/2006/table">
            <a:tbl>
              <a:tblPr firstRow="1" bandRow="1">
                <a:tableStyleId>{5C22544A-7EE6-4342-B048-85BDC9FD1C3A}</a:tableStyleId>
              </a:tblPr>
              <a:tblGrid>
                <a:gridCol w="2569232"/>
                <a:gridCol w="4788115"/>
                <a:gridCol w="3737066"/>
              </a:tblGrid>
              <a:tr h="411480">
                <a:tc>
                  <a:txBody>
                    <a:bodyPr/>
                    <a:lstStyle/>
                    <a:p>
                      <a:r>
                        <a:rPr sz="1800" b="1">
                          <a:solidFill>
                            <a:srgbClr val="FFFFFF"/>
                          </a:solidFill>
                          <a:latin typeface="Arial"/>
                        </a:rPr>
                        <a:t>Strategy</a:t>
                      </a:r>
                    </a:p>
                  </a:txBody>
                  <a:tcPr marL="73152" marR="73152" marT="36576" marB="36576">
                    <a:solidFill>
                      <a:srgbClr val="455A64"/>
                    </a:solidFill>
                  </a:tcPr>
                </a:tc>
                <a:tc>
                  <a:txBody>
                    <a:bodyPr/>
                    <a:lstStyle/>
                    <a:p>
                      <a:r>
                        <a:rPr sz="1800" b="1">
                          <a:solidFill>
                            <a:srgbClr val="FFFFFF"/>
                          </a:solidFill>
                          <a:latin typeface="Arial"/>
                        </a:rPr>
                        <a:t>Good fit</a:t>
                      </a:r>
                    </a:p>
                  </a:txBody>
                  <a:tcPr marL="73152" marR="73152" marT="36576" marB="36576">
                    <a:solidFill>
                      <a:srgbClr val="455A64"/>
                    </a:solidFill>
                  </a:tcPr>
                </a:tc>
                <a:tc>
                  <a:txBody>
                    <a:bodyPr/>
                    <a:lstStyle/>
                    <a:p>
                      <a:r>
                        <a:rPr sz="1800" b="1">
                          <a:solidFill>
                            <a:srgbClr val="FFFFFF"/>
                          </a:solidFill>
                          <a:latin typeface="Arial"/>
                        </a:rPr>
                        <a:t>Main risk</a:t>
                      </a:r>
                    </a:p>
                  </a:txBody>
                  <a:tcPr marL="73152" marR="73152" marT="36576" marB="36576">
                    <a:solidFill>
                      <a:srgbClr val="455A64"/>
                    </a:solidFill>
                  </a:tcPr>
                </a:tc>
              </a:tr>
              <a:tr h="411480">
                <a:tc>
                  <a:txBody>
                    <a:bodyPr/>
                    <a:lstStyle/>
                    <a:p>
                      <a:r>
                        <a:rPr sz="1800" b="0">
                          <a:solidFill>
                            <a:srgbClr val="1A2744"/>
                          </a:solidFill>
                          <a:latin typeface="Arial"/>
                        </a:rPr>
                        <a:t>Retain / encapsulate</a:t>
                      </a:r>
                    </a:p>
                  </a:txBody>
                  <a:tcPr marL="73152" marR="73152" marT="36576" marB="36576">
                    <a:solidFill>
                      <a:srgbClr val="FFFFFF"/>
                    </a:solidFill>
                  </a:tcPr>
                </a:tc>
                <a:tc>
                  <a:txBody>
                    <a:bodyPr/>
                    <a:lstStyle/>
                    <a:p>
                      <a:r>
                        <a:rPr sz="1800" b="0">
                          <a:solidFill>
                            <a:srgbClr val="1A2744"/>
                          </a:solidFill>
                          <a:latin typeface="Arial"/>
                        </a:rPr>
                        <a:t>Stable core ledger, low change rate</a:t>
                      </a:r>
                    </a:p>
                  </a:txBody>
                  <a:tcPr marL="73152" marR="73152" marT="36576" marB="36576">
                    <a:solidFill>
                      <a:srgbClr val="FFFFFF"/>
                    </a:solidFill>
                  </a:tcPr>
                </a:tc>
                <a:tc>
                  <a:txBody>
                    <a:bodyPr/>
                    <a:lstStyle/>
                    <a:p>
                      <a:r>
                        <a:rPr sz="1800" b="0">
                          <a:solidFill>
                            <a:srgbClr val="1A2744"/>
                          </a:solidFill>
                          <a:latin typeface="Arial"/>
                        </a:rPr>
                        <a:t>Skills risk and cost stay</a:t>
                      </a:r>
                    </a:p>
                  </a:txBody>
                  <a:tcPr marL="73152" marR="73152" marT="36576" marB="36576">
                    <a:solidFill>
                      <a:srgbClr val="FFFFFF"/>
                    </a:solidFill>
                  </a:tcPr>
                </a:tc>
              </a:tr>
              <a:tr h="411480">
                <a:tc>
                  <a:txBody>
                    <a:bodyPr/>
                    <a:lstStyle/>
                    <a:p>
                      <a:r>
                        <a:rPr sz="1800" b="0">
                          <a:solidFill>
                            <a:srgbClr val="1A2744"/>
                          </a:solidFill>
                          <a:latin typeface="Arial"/>
                        </a:rPr>
                        <a:t>Rehost / replatform</a:t>
                      </a:r>
                    </a:p>
                  </a:txBody>
                  <a:tcPr marL="73152" marR="73152" marT="36576" marB="36576">
                    <a:solidFill>
                      <a:srgbClr val="EEF0F2"/>
                    </a:solidFill>
                  </a:tcPr>
                </a:tc>
                <a:tc>
                  <a:txBody>
                    <a:bodyPr/>
                    <a:lstStyle/>
                    <a:p>
                      <a:r>
                        <a:rPr sz="1800" b="0">
                          <a:solidFill>
                            <a:srgbClr val="1A2744"/>
                          </a:solidFill>
                          <a:latin typeface="Arial"/>
                        </a:rPr>
                        <a:t>Hardware or licensing exit, low change</a:t>
                      </a:r>
                    </a:p>
                  </a:txBody>
                  <a:tcPr marL="73152" marR="73152" marT="36576" marB="36576">
                    <a:solidFill>
                      <a:srgbClr val="EEF0F2"/>
                    </a:solidFill>
                  </a:tcPr>
                </a:tc>
                <a:tc>
                  <a:txBody>
                    <a:bodyPr/>
                    <a:lstStyle/>
                    <a:p>
                      <a:r>
                        <a:rPr sz="1800" b="0">
                          <a:solidFill>
                            <a:srgbClr val="1A2744"/>
                          </a:solidFill>
                          <a:latin typeface="Arial"/>
                        </a:rPr>
                        <a:t>Same design, new ops complexity</a:t>
                      </a:r>
                    </a:p>
                  </a:txBody>
                  <a:tcPr marL="73152" marR="73152" marT="36576" marB="36576">
                    <a:solidFill>
                      <a:srgbClr val="EEF0F2"/>
                    </a:solidFill>
                  </a:tcPr>
                </a:tc>
              </a:tr>
              <a:tr h="411480">
                <a:tc>
                  <a:txBody>
                    <a:bodyPr/>
                    <a:lstStyle/>
                    <a:p>
                      <a:r>
                        <a:rPr sz="1800" b="0">
                          <a:solidFill>
                            <a:srgbClr val="1A2744"/>
                          </a:solidFill>
                          <a:latin typeface="Arial"/>
                        </a:rPr>
                        <a:t>Refactor (automated)</a:t>
                      </a:r>
                    </a:p>
                  </a:txBody>
                  <a:tcPr marL="73152" marR="73152" marT="36576" marB="36576">
                    <a:solidFill>
                      <a:srgbClr val="FFFFFF"/>
                    </a:solidFill>
                  </a:tcPr>
                </a:tc>
                <a:tc>
                  <a:txBody>
                    <a:bodyPr/>
                    <a:lstStyle/>
                    <a:p>
                      <a:r>
                        <a:rPr sz="1800" b="0">
                          <a:solidFill>
                            <a:srgbClr val="1A2744"/>
                          </a:solidFill>
                          <a:latin typeface="Arial"/>
                        </a:rPr>
                        <a:t>Large, well-tested estate, short timeline</a:t>
                      </a:r>
                    </a:p>
                  </a:txBody>
                  <a:tcPr marL="73152" marR="73152" marT="36576" marB="36576">
                    <a:solidFill>
                      <a:srgbClr val="FFFFFF"/>
                    </a:solidFill>
                  </a:tcPr>
                </a:tc>
                <a:tc>
                  <a:txBody>
                    <a:bodyPr/>
                    <a:lstStyle/>
                    <a:p>
                      <a:r>
                        <a:rPr sz="1800" b="0">
                          <a:solidFill>
                            <a:srgbClr val="1A2744"/>
                          </a:solidFill>
                          <a:latin typeface="Arial"/>
                        </a:rPr>
                        <a:t>"JOBOL", no maintainability gain</a:t>
                      </a:r>
                    </a:p>
                  </a:txBody>
                  <a:tcPr marL="73152" marR="73152" marT="36576" marB="36576">
                    <a:solidFill>
                      <a:srgbClr val="FFFFFF"/>
                    </a:solidFill>
                  </a:tcPr>
                </a:tc>
              </a:tr>
              <a:tr h="411480">
                <a:tc>
                  <a:txBody>
                    <a:bodyPr/>
                    <a:lstStyle/>
                    <a:p>
                      <a:r>
                        <a:rPr sz="1800" b="0">
                          <a:solidFill>
                            <a:srgbClr val="1A2744"/>
                          </a:solidFill>
                          <a:latin typeface="Arial"/>
                        </a:rPr>
                        <a:t>Rearchitect / rebuild</a:t>
                      </a:r>
                    </a:p>
                  </a:txBody>
                  <a:tcPr marL="73152" marR="73152" marT="36576" marB="36576">
                    <a:solidFill>
                      <a:srgbClr val="EEF0F2"/>
                    </a:solidFill>
                  </a:tcPr>
                </a:tc>
                <a:tc>
                  <a:txBody>
                    <a:bodyPr/>
                    <a:lstStyle/>
                    <a:p>
                      <a:r>
                        <a:rPr sz="1800" b="0">
                          <a:solidFill>
                            <a:srgbClr val="1A2744"/>
                          </a:solidFill>
                          <a:latin typeface="Arial"/>
                        </a:rPr>
                        <a:t>High-change, differentiating capability</a:t>
                      </a:r>
                    </a:p>
                  </a:txBody>
                  <a:tcPr marL="73152" marR="73152" marT="36576" marB="36576">
                    <a:solidFill>
                      <a:srgbClr val="EEF0F2"/>
                    </a:solidFill>
                  </a:tcPr>
                </a:tc>
                <a:tc>
                  <a:txBody>
                    <a:bodyPr/>
                    <a:lstStyle/>
                    <a:p>
                      <a:r>
                        <a:rPr sz="1800" b="0">
                          <a:solidFill>
                            <a:srgbClr val="1A2744"/>
                          </a:solidFill>
                          <a:latin typeface="Arial"/>
                        </a:rPr>
                        <a:t>Rule loss, long parallel run</a:t>
                      </a:r>
                    </a:p>
                  </a:txBody>
                  <a:tcPr marL="73152" marR="73152" marT="36576" marB="36576">
                    <a:solidFill>
                      <a:srgbClr val="EEF0F2"/>
                    </a:solidFill>
                  </a:tcPr>
                </a:tc>
              </a:tr>
              <a:tr h="411480">
                <a:tc>
                  <a:txBody>
                    <a:bodyPr/>
                    <a:lstStyle/>
                    <a:p>
                      <a:r>
                        <a:rPr sz="1800" b="0">
                          <a:solidFill>
                            <a:srgbClr val="1A2744"/>
                          </a:solidFill>
                          <a:latin typeface="Arial"/>
                        </a:rPr>
                        <a:t>Replace (package/SaaS)</a:t>
                      </a:r>
                    </a:p>
                  </a:txBody>
                  <a:tcPr marL="73152" marR="73152" marT="36576" marB="36576">
                    <a:solidFill>
                      <a:srgbClr val="FFFFFF"/>
                    </a:solidFill>
                  </a:tcPr>
                </a:tc>
                <a:tc>
                  <a:txBody>
                    <a:bodyPr/>
                    <a:lstStyle/>
                    <a:p>
                      <a:r>
                        <a:rPr sz="1800" b="0">
                          <a:solidFill>
                            <a:srgbClr val="1A2744"/>
                          </a:solidFill>
                          <a:latin typeface="Arial"/>
                        </a:rPr>
                        <a:t>Commodity capability</a:t>
                      </a:r>
                    </a:p>
                  </a:txBody>
                  <a:tcPr marL="73152" marR="73152" marT="36576" marB="36576">
                    <a:solidFill>
                      <a:srgbClr val="FFFFFF"/>
                    </a:solidFill>
                  </a:tcPr>
                </a:tc>
                <a:tc>
                  <a:txBody>
                    <a:bodyPr/>
                    <a:lstStyle/>
                    <a:p>
                      <a:r>
                        <a:rPr sz="1800" b="0">
                          <a:solidFill>
                            <a:srgbClr val="1A2744"/>
                          </a:solidFill>
                          <a:latin typeface="Arial"/>
                        </a:rPr>
                        <a:t>Customization creep, lock-in</a:t>
                      </a:r>
                    </a:p>
                  </a:txBody>
                  <a:tcPr marL="73152" marR="73152" marT="36576" marB="36576">
                    <a:solidFill>
                      <a:srgbClr val="FFFFFF"/>
                    </a:solidFill>
                  </a:tcPr>
                </a:tc>
              </a:tr>
              <a:tr h="411480">
                <a:tc>
                  <a:txBody>
                    <a:bodyPr/>
                    <a:lstStyle/>
                    <a:p>
                      <a:r>
                        <a:rPr sz="1800" b="0">
                          <a:solidFill>
                            <a:srgbClr val="1A2744"/>
                          </a:solidFill>
                          <a:latin typeface="Arial"/>
                        </a:rPr>
                        <a:t>Retire</a:t>
                      </a:r>
                    </a:p>
                  </a:txBody>
                  <a:tcPr marL="73152" marR="73152" marT="36576" marB="36576">
                    <a:solidFill>
                      <a:srgbClr val="EEF0F2"/>
                    </a:solidFill>
                  </a:tcPr>
                </a:tc>
                <a:tc>
                  <a:txBody>
                    <a:bodyPr/>
                    <a:lstStyle/>
                    <a:p>
                      <a:r>
                        <a:rPr sz="1800" b="0">
                          <a:solidFill>
                            <a:srgbClr val="1A2744"/>
                          </a:solidFill>
                          <a:latin typeface="Arial"/>
                        </a:rPr>
                        <a:t>Dead or duplicated code</a:t>
                      </a:r>
                    </a:p>
                  </a:txBody>
                  <a:tcPr marL="73152" marR="73152" marT="36576" marB="36576">
                    <a:solidFill>
                      <a:srgbClr val="EEF0F2"/>
                    </a:solidFill>
                  </a:tcPr>
                </a:tc>
                <a:tc>
                  <a:txBody>
                    <a:bodyPr/>
                    <a:lstStyle/>
                    <a:p>
                      <a:r>
                        <a:rPr sz="1800" b="0">
                          <a:solidFill>
                            <a:srgbClr val="1A2744"/>
                          </a:solidFill>
                          <a:latin typeface="Arial"/>
                        </a:rPr>
                        <a:t>Hidden consumers</a:t>
                      </a:r>
                    </a:p>
                  </a:txBody>
                  <a:tcPr marL="73152" marR="73152" marT="36576" marB="36576">
                    <a:solidFill>
                      <a:srgbClr val="EEF0F2"/>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trangler-coexistence.png"/>
          <p:cNvPicPr>
            <a:picLocks noChangeAspect="1"/>
          </p:cNvPicPr>
          <p:nvPr/>
        </p:nvPicPr>
        <p:blipFill>
          <a:blip r:embed="rId2"/>
          <a:stretch>
            <a:fillRect/>
          </a:stretch>
        </p:blipFill>
        <p:spPr>
          <a:xfrm>
            <a:off x="8782960" y="274320"/>
            <a:ext cx="3068522" cy="6309360"/>
          </a:xfrm>
          <a:prstGeom prst="rect">
            <a:avLst/>
          </a:prstGeom>
        </p:spPr>
      </p:pic>
      <p:sp>
        <p:nvSpPr>
          <p:cNvPr id="3" name="TextBox 2"/>
          <p:cNvSpPr txBox="1"/>
          <p:nvPr/>
        </p:nvSpPr>
        <p:spPr>
          <a:xfrm>
            <a:off x="548640" y="411480"/>
            <a:ext cx="7711227" cy="822960"/>
          </a:xfrm>
          <a:prstGeom prst="rect">
            <a:avLst/>
          </a:prstGeom>
          <a:noFill/>
        </p:spPr>
        <p:txBody>
          <a:bodyPr wrap="square" lIns="45720" rIns="45720">
            <a:spAutoFit/>
          </a:bodyPr>
          <a:lstStyle/>
          <a:p>
            <a:r>
              <a:rPr sz="3400" b="1">
                <a:solidFill>
                  <a:srgbClr val="0D1B3E"/>
                </a:solidFill>
                <a:latin typeface="Arial"/>
              </a:rPr>
              <a:t>Strangler with controlled coexistence</a:t>
            </a:r>
          </a:p>
        </p:txBody>
      </p:sp>
      <p:sp>
        <p:nvSpPr>
          <p:cNvPr id="4" name="TextBox 3"/>
          <p:cNvSpPr txBox="1"/>
          <p:nvPr/>
        </p:nvSpPr>
        <p:spPr>
          <a:xfrm>
            <a:off x="548640" y="2011680"/>
            <a:ext cx="7711227" cy="3964432"/>
          </a:xfrm>
          <a:prstGeom prst="rect">
            <a:avLst/>
          </a:prstGeom>
          <a:noFill/>
        </p:spPr>
        <p:txBody>
          <a:bodyPr wrap="square" lIns="45720" rIns="45720">
            <a:spAutoFit/>
          </a:bodyPr>
          <a:lstStyle/>
          <a:p>
            <a:pPr>
              <a:spcAft>
                <a:spcPts val="800"/>
              </a:spcAft>
            </a:pPr>
            <a:r>
              <a:rPr sz="2200" b="0">
                <a:solidFill>
                  <a:srgbClr val="1A2744"/>
                </a:solidFill>
                <a:latin typeface="Arial"/>
              </a:rPr>
              <a:t>•  </a:t>
            </a:r>
            <a:r>
              <a:rPr sz="2200" b="1">
                <a:solidFill>
                  <a:srgbClr val="1A2744"/>
                </a:solidFill>
                <a:latin typeface="Arial"/>
              </a:rPr>
              <a:t>Router</a:t>
            </a:r>
            <a:r>
              <a:rPr sz="2200" b="0">
                <a:solidFill>
                  <a:srgbClr val="1A2744"/>
                </a:solidFill>
                <a:latin typeface="Arial"/>
              </a:rPr>
              <a:t> switches traffic per capability, product or segment, with instant fallback</a:t>
            </a:r>
          </a:p>
          <a:p>
            <a:pPr>
              <a:spcAft>
                <a:spcPts val="800"/>
              </a:spcAft>
            </a:pPr>
            <a:r>
              <a:rPr sz="2200" b="0">
                <a:solidFill>
                  <a:srgbClr val="1A2744"/>
                </a:solidFill>
                <a:latin typeface="Arial"/>
              </a:rPr>
              <a:t>•  </a:t>
            </a:r>
            <a:r>
              <a:rPr sz="2200" b="1">
                <a:solidFill>
                  <a:srgbClr val="1A2744"/>
                </a:solidFill>
                <a:latin typeface="Arial"/>
              </a:rPr>
              <a:t>Anti-corruption layer</a:t>
            </a:r>
            <a:r>
              <a:rPr sz="2200" b="0">
                <a:solidFill>
                  <a:srgbClr val="1A2744"/>
                </a:solidFill>
                <a:latin typeface="Arial"/>
              </a:rPr>
              <a:t> keeps legacy codes out of the new model</a:t>
            </a:r>
          </a:p>
          <a:p>
            <a:pPr>
              <a:spcAft>
                <a:spcPts val="800"/>
              </a:spcAft>
            </a:pPr>
            <a:r>
              <a:rPr sz="2200" b="0">
                <a:solidFill>
                  <a:srgbClr val="1A2744"/>
                </a:solidFill>
                <a:latin typeface="Arial"/>
              </a:rPr>
              <a:t>•  </a:t>
            </a:r>
            <a:r>
              <a:rPr sz="2200" b="1">
                <a:solidFill>
                  <a:srgbClr val="1A2744"/>
                </a:solidFill>
                <a:latin typeface="Arial"/>
              </a:rPr>
              <a:t>CDC, not dual writes:</a:t>
            </a:r>
            <a:r>
              <a:rPr sz="2200" b="0">
                <a:solidFill>
                  <a:srgbClr val="1A2744"/>
                </a:solidFill>
                <a:latin typeface="Arial"/>
              </a:rPr>
              <a:t> one writer per data element</a:t>
            </a:r>
          </a:p>
          <a:p>
            <a:pPr>
              <a:spcAft>
                <a:spcPts val="800"/>
              </a:spcAft>
            </a:pPr>
            <a:r>
              <a:rPr sz="2200" b="0">
                <a:solidFill>
                  <a:srgbClr val="1A2744"/>
                </a:solidFill>
                <a:latin typeface="Arial"/>
              </a:rPr>
              <a:t>•  </a:t>
            </a:r>
            <a:r>
              <a:rPr sz="2200" b="1">
                <a:solidFill>
                  <a:srgbClr val="1A2744"/>
                </a:solidFill>
                <a:latin typeface="Arial"/>
              </a:rPr>
              <a:t>Shadow mode:</a:t>
            </a:r>
            <a:r>
              <a:rPr sz="2200" b="0">
                <a:solidFill>
                  <a:srgbClr val="1A2744"/>
                </a:solidFill>
                <a:latin typeface="Arial"/>
              </a:rPr>
              <a:t> the new service computes, does not commit</a:t>
            </a:r>
          </a:p>
          <a:p>
            <a:pPr>
              <a:spcAft>
                <a:spcPts val="800"/>
              </a:spcAft>
            </a:pPr>
            <a:r>
              <a:rPr sz="2200" b="0">
                <a:solidFill>
                  <a:srgbClr val="1A2744"/>
                </a:solidFill>
                <a:latin typeface="Arial"/>
              </a:rPr>
              <a:t>•  </a:t>
            </a:r>
            <a:r>
              <a:rPr sz="2200" b="1">
                <a:solidFill>
                  <a:srgbClr val="1A2744"/>
                </a:solidFill>
                <a:latin typeface="Arial"/>
              </a:rPr>
              <a:t>One system of record</a:t>
            </a:r>
            <a:r>
              <a:rPr sz="2200" b="0">
                <a:solidFill>
                  <a:srgbClr val="1A2744"/>
                </a:solidFill>
                <a:latin typeface="Arial"/>
              </a:rPr>
              <a:t> per business date, written down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45720" rIns="45720">
            <a:spAutoFit/>
          </a:bodyPr>
          <a:lstStyle/>
          <a:p>
            <a:r>
              <a:rPr sz="3400" b="1">
                <a:solidFill>
                  <a:srgbClr val="0D1B3E"/>
                </a:solidFill>
                <a:latin typeface="Arial"/>
              </a:rPr>
              <a:t>The architect's job</a:t>
            </a:r>
          </a:p>
        </p:txBody>
      </p:sp>
      <p:sp>
        <p:nvSpPr>
          <p:cNvPr id="3" name="TextBox 2"/>
          <p:cNvSpPr txBox="1"/>
          <p:nvPr/>
        </p:nvSpPr>
        <p:spPr>
          <a:xfrm>
            <a:off x="548640" y="1325880"/>
            <a:ext cx="11094415" cy="4167632"/>
          </a:xfrm>
          <a:prstGeom prst="rect">
            <a:avLst/>
          </a:prstGeom>
          <a:noFill/>
        </p:spPr>
        <p:txBody>
          <a:bodyPr wrap="square" lIns="45720" rIns="45720">
            <a:spAutoFit/>
          </a:bodyPr>
          <a:lstStyle/>
          <a:p>
            <a:pPr>
              <a:spcAft>
                <a:spcPts val="800"/>
              </a:spcAft>
            </a:pPr>
            <a:r>
              <a:rPr sz="2200" b="0">
                <a:solidFill>
                  <a:srgbClr val="1A2744"/>
                </a:solidFill>
                <a:latin typeface="Arial"/>
              </a:rPr>
              <a:t>•  Reconstruct the current state: applications, interfaces, jobs, data flows</a:t>
            </a:r>
          </a:p>
          <a:p>
            <a:pPr>
              <a:spcAft>
                <a:spcPts val="800"/>
              </a:spcAft>
            </a:pPr>
            <a:r>
              <a:rPr sz="2200" b="0">
                <a:solidFill>
                  <a:srgbClr val="1A2744"/>
                </a:solidFill>
                <a:latin typeface="Arial"/>
              </a:rPr>
              <a:t>•  Define capabilities and domain boundaries </a:t>
            </a:r>
            <a:r>
              <a:rPr sz="2200" b="1">
                <a:solidFill>
                  <a:srgbClr val="1A2744"/>
                </a:solidFill>
                <a:latin typeface="Arial"/>
              </a:rPr>
              <a:t>with domain experts</a:t>
            </a:r>
          </a:p>
          <a:p>
            <a:pPr>
              <a:spcAft>
                <a:spcPts val="800"/>
              </a:spcAft>
            </a:pPr>
            <a:r>
              <a:rPr sz="2200" b="0">
                <a:solidFill>
                  <a:srgbClr val="1A2744"/>
                </a:solidFill>
                <a:latin typeface="Arial"/>
              </a:rPr>
              <a:t>•  Set target and transition architectures</a:t>
            </a:r>
          </a:p>
          <a:p>
            <a:pPr>
              <a:spcAft>
                <a:spcPts val="800"/>
              </a:spcAft>
            </a:pPr>
            <a:r>
              <a:rPr sz="2200" b="0">
                <a:solidFill>
                  <a:srgbClr val="1A2744"/>
                </a:solidFill>
                <a:latin typeface="Arial"/>
              </a:rPr>
              <a:t>•  Choose the </a:t>
            </a:r>
            <a:r>
              <a:rPr sz="2200" b="1">
                <a:solidFill>
                  <a:srgbClr val="1A2744"/>
                </a:solidFill>
                <a:latin typeface="Arial"/>
              </a:rPr>
              <a:t>consistency model</a:t>
            </a:r>
            <a:r>
              <a:rPr sz="2200" b="0">
                <a:solidFill>
                  <a:srgbClr val="1A2744"/>
                </a:solidFill>
                <a:latin typeface="Arial"/>
              </a:rPr>
              <a:t> per capability</a:t>
            </a:r>
          </a:p>
          <a:p>
            <a:pPr>
              <a:spcAft>
                <a:spcPts val="800"/>
              </a:spcAft>
            </a:pPr>
            <a:r>
              <a:rPr sz="2200" b="0">
                <a:solidFill>
                  <a:srgbClr val="1A2744"/>
                </a:solidFill>
                <a:latin typeface="Arial"/>
              </a:rPr>
              <a:t>•  Set non-functional targets: end-of-day peaks, RPO/RTO, batch window</a:t>
            </a:r>
          </a:p>
          <a:p>
            <a:pPr>
              <a:spcAft>
                <a:spcPts val="800"/>
              </a:spcAft>
            </a:pPr>
            <a:r>
              <a:rPr sz="2200" b="0">
                <a:solidFill>
                  <a:srgbClr val="1A2744"/>
                </a:solidFill>
                <a:latin typeface="Arial"/>
              </a:rPr>
              <a:t>•  Plan waves by value and risk; govern equivalence, reconciliation and rollback gates</a:t>
            </a:r>
          </a:p>
          <a:p>
            <a:pPr>
              <a:spcAft>
                <a:spcPts val="800"/>
              </a:spcAft>
            </a:pPr>
            <a:r>
              <a:rPr sz="2200" b="0">
                <a:solidFill>
                  <a:srgbClr val="1A2744"/>
                </a:solidFill>
                <a:latin typeface="Arial"/>
              </a:rPr>
              <a:t>•  Record decisions as ADRs; keep the business case honest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45720" rIns="45720">
            <a:spAutoFit/>
          </a:bodyPr>
          <a:lstStyle/>
          <a:p>
            <a:r>
              <a:rPr sz="3400" b="1">
                <a:solidFill>
                  <a:srgbClr val="0D1B3E"/>
                </a:solidFill>
                <a:latin typeface="Arial"/>
              </a:rPr>
              <a:t>Where AI helps, and the control for each</a:t>
            </a:r>
          </a:p>
        </p:txBody>
      </p:sp>
      <p:graphicFrame>
        <p:nvGraphicFramePr>
          <p:cNvPr id="3" name="Table 2"/>
          <p:cNvGraphicFramePr>
            <a:graphicFrameLocks noGrp="1"/>
          </p:cNvGraphicFramePr>
          <p:nvPr/>
        </p:nvGraphicFramePr>
        <p:xfrm>
          <a:off x="548640" y="1325880"/>
          <a:ext cx="11094414" cy="2880360"/>
        </p:xfrm>
        <a:graphic>
          <a:graphicData uri="http://schemas.openxmlformats.org/drawingml/2006/table">
            <a:tbl>
              <a:tblPr firstRow="1" bandRow="1">
                <a:tableStyleId>{5C22544A-7EE6-4342-B048-85BDC9FD1C3A}</a:tableStyleId>
              </a:tblPr>
              <a:tblGrid>
                <a:gridCol w="1901899"/>
                <a:gridCol w="4649088"/>
                <a:gridCol w="4543427"/>
              </a:tblGrid>
              <a:tr h="411480">
                <a:tc>
                  <a:txBody>
                    <a:bodyPr/>
                    <a:lstStyle/>
                    <a:p>
                      <a:r>
                        <a:rPr sz="1800" b="1">
                          <a:solidFill>
                            <a:srgbClr val="FFFFFF"/>
                          </a:solidFill>
                          <a:latin typeface="Arial"/>
                        </a:rPr>
                        <a:t>Area</a:t>
                      </a:r>
                    </a:p>
                  </a:txBody>
                  <a:tcPr marL="73152" marR="73152" marT="36576" marB="36576">
                    <a:solidFill>
                      <a:srgbClr val="455A64"/>
                    </a:solidFill>
                  </a:tcPr>
                </a:tc>
                <a:tc>
                  <a:txBody>
                    <a:bodyPr/>
                    <a:lstStyle/>
                    <a:p>
                      <a:r>
                        <a:rPr sz="1800" b="1">
                          <a:solidFill>
                            <a:srgbClr val="FFFFFF"/>
                          </a:solidFill>
                          <a:latin typeface="Arial"/>
                        </a:rPr>
                        <a:t>AI contribution</a:t>
                      </a:r>
                    </a:p>
                  </a:txBody>
                  <a:tcPr marL="73152" marR="73152" marT="36576" marB="36576">
                    <a:solidFill>
                      <a:srgbClr val="455A64"/>
                    </a:solidFill>
                  </a:tcPr>
                </a:tc>
                <a:tc>
                  <a:txBody>
                    <a:bodyPr/>
                    <a:lstStyle/>
                    <a:p>
                      <a:r>
                        <a:rPr sz="1800" b="1">
                          <a:solidFill>
                            <a:srgbClr val="FFFFFF"/>
                          </a:solidFill>
                          <a:latin typeface="Arial"/>
                        </a:rPr>
                        <a:t>Required control</a:t>
                      </a:r>
                    </a:p>
                  </a:txBody>
                  <a:tcPr marL="73152" marR="73152" marT="36576" marB="36576">
                    <a:solidFill>
                      <a:srgbClr val="455A64"/>
                    </a:solidFill>
                  </a:tcPr>
                </a:tc>
              </a:tr>
              <a:tr h="411480">
                <a:tc>
                  <a:txBody>
                    <a:bodyPr/>
                    <a:lstStyle/>
                    <a:p>
                      <a:r>
                        <a:rPr sz="1800" b="0">
                          <a:solidFill>
                            <a:srgbClr val="1A2744"/>
                          </a:solidFill>
                          <a:latin typeface="Arial"/>
                        </a:rPr>
                        <a:t>Discovery</a:t>
                      </a:r>
                    </a:p>
                  </a:txBody>
                  <a:tcPr marL="73152" marR="73152" marT="36576" marB="36576">
                    <a:solidFill>
                      <a:srgbClr val="FFFFFF"/>
                    </a:solidFill>
                  </a:tcPr>
                </a:tc>
                <a:tc>
                  <a:txBody>
                    <a:bodyPr/>
                    <a:lstStyle/>
                    <a:p>
                      <a:r>
                        <a:rPr sz="1800" b="0">
                          <a:solidFill>
                            <a:srgbClr val="1A2744"/>
                          </a:solidFill>
                          <a:latin typeface="Arial"/>
                        </a:rPr>
                        <a:t>Summarize programs, copybooks, jobs</a:t>
                      </a:r>
                    </a:p>
                  </a:txBody>
                  <a:tcPr marL="73152" marR="73152" marT="36576" marB="36576">
                    <a:solidFill>
                      <a:srgbClr val="FFFFFF"/>
                    </a:solidFill>
                  </a:tcPr>
                </a:tc>
                <a:tc>
                  <a:txBody>
                    <a:bodyPr/>
                    <a:lstStyle/>
                    <a:p>
                      <a:r>
                        <a:rPr sz="1800" b="0">
                          <a:solidFill>
                            <a:srgbClr val="1A2744"/>
                          </a:solidFill>
                          <a:latin typeface="Arial"/>
                        </a:rPr>
                        <a:t>Ground on parser output; cite file and line</a:t>
                      </a:r>
                    </a:p>
                  </a:txBody>
                  <a:tcPr marL="73152" marR="73152" marT="36576" marB="36576">
                    <a:solidFill>
                      <a:srgbClr val="FFFFFF"/>
                    </a:solidFill>
                  </a:tcPr>
                </a:tc>
              </a:tr>
              <a:tr h="411480">
                <a:tc>
                  <a:txBody>
                    <a:bodyPr/>
                    <a:lstStyle/>
                    <a:p>
                      <a:r>
                        <a:rPr sz="1800" b="0">
                          <a:solidFill>
                            <a:srgbClr val="1A2744"/>
                          </a:solidFill>
                          <a:latin typeface="Arial"/>
                        </a:rPr>
                        <a:t>Rule extraction</a:t>
                      </a:r>
                    </a:p>
                  </a:txBody>
                  <a:tcPr marL="73152" marR="73152" marT="36576" marB="36576">
                    <a:solidFill>
                      <a:srgbClr val="EEF0F2"/>
                    </a:solidFill>
                  </a:tcPr>
                </a:tc>
                <a:tc>
                  <a:txBody>
                    <a:bodyPr/>
                    <a:lstStyle/>
                    <a:p>
                      <a:r>
                        <a:rPr sz="1800" b="0">
                          <a:solidFill>
                            <a:srgbClr val="1A2744"/>
                          </a:solidFill>
                          <a:latin typeface="Arial"/>
                        </a:rPr>
                        <a:t>Candidate rules with source links</a:t>
                      </a:r>
                    </a:p>
                  </a:txBody>
                  <a:tcPr marL="73152" marR="73152" marT="36576" marB="36576">
                    <a:solidFill>
                      <a:srgbClr val="EEF0F2"/>
                    </a:solidFill>
                  </a:tcPr>
                </a:tc>
                <a:tc>
                  <a:txBody>
                    <a:bodyPr/>
                    <a:lstStyle/>
                    <a:p>
                      <a:r>
                        <a:rPr sz="1800" b="0">
                          <a:solidFill>
                            <a:srgbClr val="1A2744"/>
                          </a:solidFill>
                          <a:latin typeface="Arial"/>
                        </a:rPr>
                        <a:t>Expert sign-off; rule catalog with status</a:t>
                      </a:r>
                    </a:p>
                  </a:txBody>
                  <a:tcPr marL="73152" marR="73152" marT="36576" marB="36576">
                    <a:solidFill>
                      <a:srgbClr val="EEF0F2"/>
                    </a:solidFill>
                  </a:tcPr>
                </a:tc>
              </a:tr>
              <a:tr h="411480">
                <a:tc>
                  <a:txBody>
                    <a:bodyPr/>
                    <a:lstStyle/>
                    <a:p>
                      <a:r>
                        <a:rPr sz="1800" b="0">
                          <a:solidFill>
                            <a:srgbClr val="1A2744"/>
                          </a:solidFill>
                          <a:latin typeface="Arial"/>
                        </a:rPr>
                        <a:t>Domain modeling</a:t>
                      </a:r>
                    </a:p>
                  </a:txBody>
                  <a:tcPr marL="73152" marR="73152" marT="36576" marB="36576">
                    <a:solidFill>
                      <a:srgbClr val="FFFFFF"/>
                    </a:solidFill>
                  </a:tcPr>
                </a:tc>
                <a:tc>
                  <a:txBody>
                    <a:bodyPr/>
                    <a:lstStyle/>
                    <a:p>
                      <a:r>
                        <a:rPr sz="1800" b="0">
                          <a:solidFill>
                            <a:srgbClr val="1A2744"/>
                          </a:solidFill>
                          <a:latin typeface="Arial"/>
                        </a:rPr>
                        <a:t>Candidate bounded contexts</a:t>
                      </a:r>
                    </a:p>
                  </a:txBody>
                  <a:tcPr marL="73152" marR="73152" marT="36576" marB="36576">
                    <a:solidFill>
                      <a:srgbClr val="FFFFFF"/>
                    </a:solidFill>
                  </a:tcPr>
                </a:tc>
                <a:tc>
                  <a:txBody>
                    <a:bodyPr/>
                    <a:lstStyle/>
                    <a:p>
                      <a:r>
                        <a:rPr sz="1800" b="0">
                          <a:solidFill>
                            <a:srgbClr val="1A2744"/>
                          </a:solidFill>
                          <a:latin typeface="Arial"/>
                        </a:rPr>
                        <a:t>Coupling metrics and workshops</a:t>
                      </a:r>
                    </a:p>
                  </a:txBody>
                  <a:tcPr marL="73152" marR="73152" marT="36576" marB="36576">
                    <a:solidFill>
                      <a:srgbClr val="FFFFFF"/>
                    </a:solidFill>
                  </a:tcPr>
                </a:tc>
              </a:tr>
              <a:tr h="411480">
                <a:tc>
                  <a:txBody>
                    <a:bodyPr/>
                    <a:lstStyle/>
                    <a:p>
                      <a:r>
                        <a:rPr sz="1800" b="0">
                          <a:solidFill>
                            <a:srgbClr val="1A2744"/>
                          </a:solidFill>
                          <a:latin typeface="Arial"/>
                        </a:rPr>
                        <a:t>Code modernization</a:t>
                      </a:r>
                    </a:p>
                  </a:txBody>
                  <a:tcPr marL="73152" marR="73152" marT="36576" marB="36576">
                    <a:solidFill>
                      <a:srgbClr val="EEF0F2"/>
                    </a:solidFill>
                  </a:tcPr>
                </a:tc>
                <a:tc>
                  <a:txBody>
                    <a:bodyPr/>
                    <a:lstStyle/>
                    <a:p>
                      <a:r>
                        <a:rPr sz="1800" b="0">
                          <a:solidFill>
                            <a:srgbClr val="1A2744"/>
                          </a:solidFill>
                          <a:latin typeface="Arial"/>
                        </a:rPr>
                        <a:t>Assist refactoring</a:t>
                      </a:r>
                    </a:p>
                  </a:txBody>
                  <a:tcPr marL="73152" marR="73152" marT="36576" marB="36576">
                    <a:solidFill>
                      <a:srgbClr val="EEF0F2"/>
                    </a:solidFill>
                  </a:tcPr>
                </a:tc>
                <a:tc>
                  <a:txBody>
                    <a:bodyPr/>
                    <a:lstStyle/>
                    <a:p>
                      <a:r>
                        <a:rPr sz="1800" b="0">
                          <a:solidFill>
                            <a:srgbClr val="1A2744"/>
                          </a:solidFill>
                          <a:latin typeface="Arial"/>
                        </a:rPr>
                        <a:t>Review, static analysis, tests pass</a:t>
                      </a:r>
                    </a:p>
                  </a:txBody>
                  <a:tcPr marL="73152" marR="73152" marT="36576" marB="36576">
                    <a:solidFill>
                      <a:srgbClr val="EEF0F2"/>
                    </a:solidFill>
                  </a:tcPr>
                </a:tc>
              </a:tr>
              <a:tr h="411480">
                <a:tc>
                  <a:txBody>
                    <a:bodyPr/>
                    <a:lstStyle/>
                    <a:p>
                      <a:r>
                        <a:rPr sz="1800" b="0">
                          <a:solidFill>
                            <a:srgbClr val="1A2744"/>
                          </a:solidFill>
                          <a:latin typeface="Arial"/>
                        </a:rPr>
                        <a:t>Testing</a:t>
                      </a:r>
                    </a:p>
                  </a:txBody>
                  <a:tcPr marL="73152" marR="73152" marT="36576" marB="36576">
                    <a:solidFill>
                      <a:srgbClr val="FFFFFF"/>
                    </a:solidFill>
                  </a:tcPr>
                </a:tc>
                <a:tc>
                  <a:txBody>
                    <a:bodyPr/>
                    <a:lstStyle/>
                    <a:p>
                      <a:r>
                        <a:rPr sz="1800" b="0">
                          <a:solidFill>
                            <a:srgbClr val="1A2744"/>
                          </a:solidFill>
                          <a:latin typeface="Arial"/>
                        </a:rPr>
                        <a:t>Characterization tests, discrepancy analysis</a:t>
                      </a:r>
                    </a:p>
                  </a:txBody>
                  <a:tcPr marL="73152" marR="73152" marT="36576" marB="36576">
                    <a:solidFill>
                      <a:srgbClr val="FFFFFF"/>
                    </a:solidFill>
                  </a:tcPr>
                </a:tc>
                <a:tc>
                  <a:txBody>
                    <a:bodyPr/>
                    <a:lstStyle/>
                    <a:p>
                      <a:r>
                        <a:rPr sz="1800" b="0">
                          <a:solidFill>
                            <a:srgbClr val="1A2744"/>
                          </a:solidFill>
                          <a:latin typeface="Arial"/>
                        </a:rPr>
                        <a:t>Legacy is the oracle, not the model</a:t>
                      </a:r>
                    </a:p>
                  </a:txBody>
                  <a:tcPr marL="73152" marR="73152" marT="36576" marB="36576">
                    <a:solidFill>
                      <a:srgbClr val="FFFFFF"/>
                    </a:solidFill>
                  </a:tcPr>
                </a:tc>
              </a:tr>
              <a:tr h="411480">
                <a:tc>
                  <a:txBody>
                    <a:bodyPr/>
                    <a:lstStyle/>
                    <a:p>
                      <a:r>
                        <a:rPr sz="1800" b="0">
                          <a:solidFill>
                            <a:srgbClr val="1A2744"/>
                          </a:solidFill>
                          <a:latin typeface="Arial"/>
                        </a:rPr>
                        <a:t>Operations</a:t>
                      </a:r>
                    </a:p>
                  </a:txBody>
                  <a:tcPr marL="73152" marR="73152" marT="36576" marB="36576">
                    <a:solidFill>
                      <a:srgbClr val="EEF0F2"/>
                    </a:solidFill>
                  </a:tcPr>
                </a:tc>
                <a:tc>
                  <a:txBody>
                    <a:bodyPr/>
                    <a:lstStyle/>
                    <a:p>
                      <a:r>
                        <a:rPr sz="1800" b="0">
                          <a:solidFill>
                            <a:srgbClr val="1A2744"/>
                          </a:solidFill>
                          <a:latin typeface="Arial"/>
                        </a:rPr>
                        <a:t>Explain abends and breaks</a:t>
                      </a:r>
                    </a:p>
                  </a:txBody>
                  <a:tcPr marL="73152" marR="73152" marT="36576" marB="36576">
                    <a:solidFill>
                      <a:srgbClr val="EEF0F2"/>
                    </a:solidFill>
                  </a:tcPr>
                </a:tc>
                <a:tc>
                  <a:txBody>
                    <a:bodyPr/>
                    <a:lstStyle/>
                    <a:p>
                      <a:r>
                        <a:rPr sz="1800" b="0">
                          <a:solidFill>
                            <a:srgbClr val="1A2744"/>
                          </a:solidFill>
                          <a:latin typeface="Arial"/>
                        </a:rPr>
                        <a:t>Read-only; no autonomous actions</a:t>
                      </a:r>
                    </a:p>
                  </a:txBody>
                  <a:tcPr marL="73152" marR="73152" marT="36576" marB="36576">
                    <a:solidFill>
                      <a:srgbClr val="EEF0F2"/>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45720" rIns="45720">
            <a:spAutoFit/>
          </a:bodyPr>
          <a:lstStyle/>
          <a:p>
            <a:r>
              <a:rPr sz="3400" b="1">
                <a:solidFill>
                  <a:srgbClr val="0D1B3E"/>
                </a:solidFill>
                <a:latin typeface="Arial"/>
              </a:rPr>
              <a:t>Reference AI-assisted discovery pipeline</a:t>
            </a:r>
          </a:p>
        </p:txBody>
      </p:sp>
      <p:pic>
        <p:nvPicPr>
          <p:cNvPr id="3" name="Picture 2" descr="ai-discovery-pipeline.png"/>
          <p:cNvPicPr>
            <a:picLocks noChangeAspect="1"/>
          </p:cNvPicPr>
          <p:nvPr/>
        </p:nvPicPr>
        <p:blipFill>
          <a:blip r:embed="rId2"/>
          <a:stretch>
            <a:fillRect/>
          </a:stretch>
        </p:blipFill>
        <p:spPr>
          <a:xfrm>
            <a:off x="2345453" y="1325880"/>
            <a:ext cx="7500789" cy="51663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TextBox 1"/>
          <p:cNvSpPr txBox="1"/>
          <p:nvPr/>
        </p:nvSpPr>
        <p:spPr>
          <a:xfrm>
            <a:off x="1097280" y="731520"/>
            <a:ext cx="9997135" cy="5394960"/>
          </a:xfrm>
          <a:prstGeom prst="rect">
            <a:avLst/>
          </a:prstGeom>
          <a:noFill/>
        </p:spPr>
        <p:txBody>
          <a:bodyPr wrap="square" lIns="45720" rIns="45720" anchor="ctr">
            <a:spAutoFit/>
          </a:bodyPr>
          <a:lstStyle/>
          <a:p>
            <a:pPr algn="ctr">
              <a:spcAft>
                <a:spcPts val="1800"/>
              </a:spcAft>
            </a:pPr>
            <a:r>
              <a:rPr sz="4000" b="1">
                <a:solidFill>
                  <a:srgbClr val="4ECDC4"/>
                </a:solidFill>
                <a:latin typeface="Arial"/>
              </a:rPr>
              <a:t>The guardrail</a:t>
            </a:r>
          </a:p>
          <a:p>
            <a:pPr algn="ctr">
              <a:spcAft>
                <a:spcPts val="1400"/>
              </a:spcAft>
            </a:pPr>
            <a:r>
              <a:rPr sz="3000" b="1">
                <a:solidFill>
                  <a:srgbClr val="FFFFFF"/>
                </a:solidFill>
                <a:latin typeface="Arial"/>
              </a:rPr>
              <a:t>AI must not independently approve banking correctness</a:t>
            </a:r>
          </a:p>
          <a:p>
            <a:pPr algn="ctr">
              <a:spcAft>
                <a:spcPts val="1400"/>
              </a:spcAft>
            </a:pPr>
            <a:r>
              <a:rPr sz="2200" b="0">
                <a:solidFill>
                  <a:srgbClr val="FFFFFF"/>
                </a:solidFill>
                <a:latin typeface="Arial"/>
              </a:rPr>
              <a:t>Deterministic parsers and static analysis first. Then human review, the legacy system as test oracle, financial reconciliation and secure model deployment.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45720" rIns="45720">
            <a:spAutoFit/>
          </a:bodyPr>
          <a:lstStyle/>
          <a:p>
            <a:r>
              <a:rPr sz="3400" b="1">
                <a:solidFill>
                  <a:srgbClr val="0D1B3E"/>
                </a:solidFill>
                <a:latin typeface="Arial"/>
              </a:rPr>
              <a:t>One cent: the legacy rule</a:t>
            </a:r>
          </a:p>
        </p:txBody>
      </p:sp>
      <p:sp>
        <p:nvSpPr>
          <p:cNvPr id="3" name="TextBox 2"/>
          <p:cNvSpPr txBox="1"/>
          <p:nvPr/>
        </p:nvSpPr>
        <p:spPr>
          <a:xfrm>
            <a:off x="548640" y="1325880"/>
            <a:ext cx="11094415" cy="485648"/>
          </a:xfrm>
          <a:prstGeom prst="rect">
            <a:avLst/>
          </a:prstGeom>
          <a:noFill/>
        </p:spPr>
        <p:txBody>
          <a:bodyPr wrap="square" lIns="45720" rIns="45720">
            <a:spAutoFit/>
          </a:bodyPr>
          <a:lstStyle/>
          <a:p>
            <a:pPr>
              <a:spcAft>
                <a:spcPts val="800"/>
              </a:spcAft>
            </a:pPr>
            <a:r>
              <a:rPr sz="2200" b="0">
                <a:solidFill>
                  <a:srgbClr val="1A2744"/>
                </a:solidFill>
                <a:latin typeface="Arial"/>
              </a:rPr>
              <a:t>Rule BR-INT-001, monthly interest, from </a:t>
            </a:r>
            <a:r>
              <a:rPr sz="2200" b="0">
                <a:solidFill>
                  <a:srgbClr val="1A2744"/>
                </a:solidFill>
                <a:latin typeface="Courier New"/>
              </a:rPr>
              <a:t>examples/cobol/INTCALC.cbl</a:t>
            </a:r>
            <a:r>
              <a:rPr sz="2200" b="0">
                <a:solidFill>
                  <a:srgbClr val="1A2744"/>
                </a:solidFill>
                <a:latin typeface="Arial"/>
              </a:rPr>
              <a:t>:</a:t>
            </a:r>
          </a:p>
        </p:txBody>
      </p:sp>
      <p:sp>
        <p:nvSpPr>
          <p:cNvPr id="4" name="Rectangle 3"/>
          <p:cNvSpPr/>
          <p:nvPr/>
        </p:nvSpPr>
        <p:spPr>
          <a:xfrm>
            <a:off x="548640" y="1994408"/>
            <a:ext cx="11094415" cy="2578608"/>
          </a:xfrm>
          <a:prstGeom prst="rect">
            <a:avLst/>
          </a:prstGeom>
          <a:solidFill>
            <a:srgbClr val="455A64"/>
          </a:solidFill>
          <a:ln>
            <a:noFill/>
          </a:ln>
        </p:spPr>
        <p:style>
          <a:lnRef idx="1">
            <a:schemeClr val="accent1"/>
          </a:lnRef>
          <a:fillRef idx="3">
            <a:schemeClr val="accent1"/>
          </a:fillRef>
          <a:effectRef idx="2">
            <a:schemeClr val="accent1"/>
          </a:effectRef>
          <a:fontRef idx="minor">
            <a:schemeClr val="lt1"/>
          </a:fontRef>
        </p:style>
        <p:txBody>
          <a:bodyPr rtlCol="0" anchor="ctr" wrap="none" lIns="182880" tIns="182880"/>
          <a:lstStyle/>
          <a:p>
            <a:pPr algn="l"/>
            <a:r>
              <a:rPr sz="1700">
                <a:solidFill>
                  <a:srgbClr val="FFFFFF"/>
                </a:solidFill>
                <a:latin typeface="Courier New"/>
              </a:rPr>
              <a:t>           IF ACCT-ACTIVE</a:t>
            </a:r>
          </a:p>
          <a:p>
            <a:pPr algn="l"/>
            <a:r>
              <a:rPr sz="1700">
                <a:solidFill>
                  <a:srgbClr val="FFFFFF"/>
                </a:solidFill>
                <a:latin typeface="Courier New"/>
              </a:rPr>
              <a:t>      *        No ROUNDED phrase: the result is truncated to two decimals.</a:t>
            </a:r>
          </a:p>
          <a:p>
            <a:pPr algn="l"/>
            <a:r>
              <a:rPr sz="1700">
                <a:solidFill>
                  <a:srgbClr val="FFFFFF"/>
                </a:solidFill>
                <a:latin typeface="Courier New"/>
              </a:rPr>
              <a:t>               COMPUTE WS-MONTHLY-INT =</a:t>
            </a:r>
          </a:p>
          <a:p>
            <a:pPr algn="l"/>
            <a:r>
              <a:rPr sz="1700">
                <a:solidFill>
                  <a:srgbClr val="FFFFFF"/>
                </a:solidFill>
                <a:latin typeface="Courier New"/>
              </a:rPr>
              <a:t>                   ACCT-BALANCE * ACCT-ANNUAL-RATE / 1200</a:t>
            </a:r>
          </a:p>
          <a:p>
            <a:pPr algn="l"/>
            <a:r>
              <a:rPr sz="1700">
                <a:solidFill>
                  <a:srgbClr val="FFFFFF"/>
                </a:solidFill>
                <a:latin typeface="Courier New"/>
              </a:rPr>
              <a:t>           ELSE</a:t>
            </a:r>
          </a:p>
          <a:p>
            <a:pPr algn="l"/>
            <a:r>
              <a:rPr sz="1700">
                <a:solidFill>
                  <a:srgbClr val="FFFFFF"/>
                </a:solidFill>
                <a:latin typeface="Courier New"/>
              </a:rPr>
              <a:t>               MOVE ZERO TO WS-MONTHLY-INT</a:t>
            </a:r>
          </a:p>
          <a:p>
            <a:pPr algn="l"/>
            <a:r>
              <a:rPr sz="1700">
                <a:solidFill>
                  <a:srgbClr val="FFFFFF"/>
                </a:solidFill>
                <a:latin typeface="Courier New"/>
              </a:rPr>
              <a:t>           END-IF.</a:t>
            </a:r>
          </a:p>
        </p:txBody>
      </p:sp>
      <p:sp>
        <p:nvSpPr>
          <p:cNvPr id="5" name="TextBox 4"/>
          <p:cNvSpPr txBox="1"/>
          <p:nvPr/>
        </p:nvSpPr>
        <p:spPr>
          <a:xfrm>
            <a:off x="548640" y="4801616"/>
            <a:ext cx="11094415" cy="485648"/>
          </a:xfrm>
          <a:prstGeom prst="rect">
            <a:avLst/>
          </a:prstGeom>
          <a:noFill/>
        </p:spPr>
        <p:txBody>
          <a:bodyPr wrap="square" lIns="45720" rIns="45720">
            <a:spAutoFit/>
          </a:bodyPr>
          <a:lstStyle/>
          <a:p>
            <a:pPr>
              <a:spcAft>
                <a:spcPts val="800"/>
              </a:spcAft>
            </a:pPr>
            <a:r>
              <a:rPr sz="2200" b="0">
                <a:solidFill>
                  <a:srgbClr val="1A2744"/>
                </a:solidFill>
                <a:latin typeface="Arial"/>
              </a:rPr>
              <a:t>No </a:t>
            </a:r>
            <a:r>
              <a:rPr sz="2200" b="0">
                <a:solidFill>
                  <a:srgbClr val="1A2744"/>
                </a:solidFill>
                <a:latin typeface="Courier New"/>
              </a:rPr>
              <a:t>ROUNDED</a:t>
            </a:r>
            <a:r>
              <a:rPr sz="2200" b="0">
                <a:solidFill>
                  <a:srgbClr val="1A2744"/>
                </a:solidFill>
                <a:latin typeface="Arial"/>
              </a:rPr>
              <a:t>, so the result is </a:t>
            </a:r>
            <a:r>
              <a:rPr sz="2200" b="1">
                <a:solidFill>
                  <a:srgbClr val="1A2744"/>
                </a:solidFill>
                <a:latin typeface="Arial"/>
              </a:rPr>
              <a:t>truncated toward zero</a:t>
            </a:r>
            <a:r>
              <a:rPr sz="2200" b="0">
                <a:solidFill>
                  <a:srgbClr val="1A2744"/>
                </a:solidFill>
                <a:latin typeface="Arial"/>
              </a:rPr>
              <a:t> to two decimals.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45720" rIns="45720">
            <a:spAutoFit/>
          </a:bodyPr>
          <a:lstStyle/>
          <a:p>
            <a:r>
              <a:rPr sz="3400" b="1">
                <a:solidFill>
                  <a:srgbClr val="0D1B3E"/>
                </a:solidFill>
                <a:latin typeface="Arial"/>
              </a:rPr>
              <a:t>Two Java ports, one of them wrong</a:t>
            </a:r>
          </a:p>
        </p:txBody>
      </p:sp>
      <p:sp>
        <p:nvSpPr>
          <p:cNvPr id="3" name="TextBox 2"/>
          <p:cNvSpPr txBox="1"/>
          <p:nvPr/>
        </p:nvSpPr>
        <p:spPr>
          <a:xfrm>
            <a:off x="548640" y="1325880"/>
            <a:ext cx="11094415" cy="485648"/>
          </a:xfrm>
          <a:prstGeom prst="rect">
            <a:avLst/>
          </a:prstGeom>
          <a:noFill/>
        </p:spPr>
        <p:txBody>
          <a:bodyPr wrap="square" lIns="45720" rIns="45720">
            <a:spAutoFit/>
          </a:bodyPr>
          <a:lstStyle/>
          <a:p>
            <a:pPr>
              <a:spcAft>
                <a:spcPts val="800"/>
              </a:spcAft>
            </a:pPr>
            <a:r>
              <a:rPr sz="2200" b="0">
                <a:solidFill>
                  <a:srgbClr val="1A2744"/>
                </a:solidFill>
                <a:latin typeface="Arial"/>
              </a:rPr>
              <a:t>From </a:t>
            </a:r>
            <a:r>
              <a:rPr sz="2200" b="0">
                <a:solidFill>
                  <a:srgbClr val="1A2744"/>
                </a:solidFill>
                <a:latin typeface="Courier New"/>
              </a:rPr>
              <a:t>InterestRule.java</a:t>
            </a:r>
            <a:r>
              <a:rPr sz="2200" b="0">
                <a:solidFill>
                  <a:srgbClr val="1A2744"/>
                </a:solidFill>
                <a:latin typeface="Arial"/>
              </a:rPr>
              <a:t>:</a:t>
            </a:r>
          </a:p>
        </p:txBody>
      </p:sp>
      <p:sp>
        <p:nvSpPr>
          <p:cNvPr id="4" name="Rectangle 3"/>
          <p:cNvSpPr/>
          <p:nvPr/>
        </p:nvSpPr>
        <p:spPr>
          <a:xfrm>
            <a:off x="548640" y="1994408"/>
            <a:ext cx="11094415" cy="2578608"/>
          </a:xfrm>
          <a:prstGeom prst="rect">
            <a:avLst/>
          </a:prstGeom>
          <a:solidFill>
            <a:srgbClr val="455A64"/>
          </a:solidFill>
          <a:ln>
            <a:noFill/>
          </a:ln>
        </p:spPr>
        <p:style>
          <a:lnRef idx="1">
            <a:schemeClr val="accent1"/>
          </a:lnRef>
          <a:fillRef idx="3">
            <a:schemeClr val="accent1"/>
          </a:fillRef>
          <a:effectRef idx="2">
            <a:schemeClr val="accent1"/>
          </a:effectRef>
          <a:fontRef idx="minor">
            <a:schemeClr val="lt1"/>
          </a:fontRef>
        </p:style>
        <p:txBody>
          <a:bodyPr rtlCol="0" anchor="ctr" wrap="none" lIns="182880" tIns="182880"/>
          <a:lstStyle/>
          <a:p>
            <a:pPr algn="l"/>
            <a:r>
              <a:rPr sz="1700">
                <a:solidFill>
                  <a:srgbClr val="FFFFFF"/>
                </a:solidFill>
                <a:latin typeface="Courier New"/>
              </a:rPr>
              <a:t>// Legacy-equivalent: truncation toward zero, like COBOL without ROUNDED</a:t>
            </a:r>
          </a:p>
          <a:p>
            <a:pPr algn="l"/>
            <a:r>
              <a:rPr sz="1700">
                <a:solidFill>
                  <a:srgbClr val="FFFFFF"/>
                </a:solidFill>
                <a:latin typeface="Courier New"/>
              </a:rPr>
              <a:t>return balance.multiply(annualRatePercent)</a:t>
            </a:r>
          </a:p>
          <a:p>
            <a:pPr algn="l"/>
            <a:r>
              <a:rPr sz="1700">
                <a:solidFill>
                  <a:srgbClr val="FFFFFF"/>
                </a:solidFill>
                <a:latin typeface="Courier New"/>
              </a:rPr>
              <a:t>    .divide(MONTHS_TIMES_PERCENT, MONEY_SCALE, RoundingMode.DOWN);</a:t>
            </a:r>
          </a:p>
          <a:p>
            <a:pPr algn="l"/>
            <a:r>
              <a:rPr sz="1700">
                <a:solidFill>
                  <a:srgbClr val="FFFFFF"/>
                </a:solidFill>
                <a:latin typeface="Courier New"/>
              </a:rPr>
              <a:t> </a:t>
            </a:r>
          </a:p>
          <a:p>
            <a:pPr algn="l"/>
            <a:r>
              <a:rPr sz="1700">
                <a:solidFill>
                  <a:srgbClr val="FFFFFF"/>
                </a:solidFill>
                <a:latin typeface="Courier New"/>
              </a:rPr>
              <a:t>// The port a reviewer would accept at first glance: banker's rounding</a:t>
            </a:r>
          </a:p>
          <a:p>
            <a:pPr algn="l"/>
            <a:r>
              <a:rPr sz="1700">
                <a:solidFill>
                  <a:srgbClr val="FFFFFF"/>
                </a:solidFill>
                <a:latin typeface="Courier New"/>
              </a:rPr>
              <a:t>return balance.multiply(annualRatePercent)</a:t>
            </a:r>
          </a:p>
          <a:p>
            <a:pPr algn="l"/>
            <a:r>
              <a:rPr sz="1700">
                <a:solidFill>
                  <a:srgbClr val="FFFFFF"/>
                </a:solidFill>
                <a:latin typeface="Courier New"/>
              </a:rPr>
              <a:t>    .divide(MONTHS_TIMES_PERCENT, MONEY_SCALE, RoundingMode.HALF_EVEN);</a:t>
            </a:r>
          </a:p>
        </p:txBody>
      </p:sp>
      <p:sp>
        <p:nvSpPr>
          <p:cNvPr id="5" name="TextBox 4"/>
          <p:cNvSpPr txBox="1"/>
          <p:nvPr/>
        </p:nvSpPr>
        <p:spPr>
          <a:xfrm>
            <a:off x="548640" y="4801616"/>
            <a:ext cx="11094415" cy="485648"/>
          </a:xfrm>
          <a:prstGeom prst="rect">
            <a:avLst/>
          </a:prstGeom>
          <a:noFill/>
        </p:spPr>
        <p:txBody>
          <a:bodyPr wrap="square" lIns="45720" rIns="45720">
            <a:spAutoFit/>
          </a:bodyPr>
          <a:lstStyle/>
          <a:p>
            <a:pPr>
              <a:spcAft>
                <a:spcPts val="800"/>
              </a:spcAft>
            </a:pPr>
            <a:r>
              <a:rPr sz="2200" b="0">
                <a:solidFill>
                  <a:srgbClr val="1A2744"/>
                </a:solidFill>
                <a:latin typeface="Arial"/>
              </a:rPr>
              <a:t>Both use </a:t>
            </a:r>
            <a:r>
              <a:rPr sz="2200" b="0">
                <a:solidFill>
                  <a:srgbClr val="1A2744"/>
                </a:solidFill>
                <a:latin typeface="Courier New"/>
              </a:rPr>
              <a:t>BigDecimal</a:t>
            </a:r>
            <a:r>
              <a:rPr sz="2200" b="0">
                <a:solidFill>
                  <a:srgbClr val="1A2744"/>
                </a:solidFill>
                <a:latin typeface="Arial"/>
              </a:rPr>
              <a:t>. Only one matches the legacy system.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45720" rIns="45720">
            <a:spAutoFit/>
          </a:bodyPr>
          <a:lstStyle/>
          <a:p>
            <a:r>
              <a:rPr sz="3400" b="1">
                <a:solidFill>
                  <a:srgbClr val="0D1B3E"/>
                </a:solidFill>
                <a:latin typeface="Arial"/>
              </a:rPr>
              <a:t>The golden master catches it: 3 of 8 accounts break</a:t>
            </a:r>
          </a:p>
        </p:txBody>
      </p:sp>
      <p:graphicFrame>
        <p:nvGraphicFramePr>
          <p:cNvPr id="3" name="Table 2"/>
          <p:cNvGraphicFramePr>
            <a:graphicFrameLocks noGrp="1"/>
          </p:cNvGraphicFramePr>
          <p:nvPr/>
        </p:nvGraphicFramePr>
        <p:xfrm>
          <a:off x="548640" y="2011680"/>
          <a:ext cx="11094412" cy="1645920"/>
        </p:xfrm>
        <a:graphic>
          <a:graphicData uri="http://schemas.openxmlformats.org/drawingml/2006/table">
            <a:tbl>
              <a:tblPr firstRow="1" bandRow="1">
                <a:tableStyleId>{5C22544A-7EE6-4342-B048-85BDC9FD1C3A}</a:tableStyleId>
              </a:tblPr>
              <a:tblGrid>
                <a:gridCol w="1674628"/>
                <a:gridCol w="1883957"/>
                <a:gridCol w="1255971"/>
                <a:gridCol w="2721271"/>
                <a:gridCol w="3558585"/>
              </a:tblGrid>
              <a:tr h="411480">
                <a:tc>
                  <a:txBody>
                    <a:bodyPr/>
                    <a:lstStyle/>
                    <a:p>
                      <a:r>
                        <a:rPr sz="1800" b="1">
                          <a:solidFill>
                            <a:srgbClr val="FFFFFF"/>
                          </a:solidFill>
                          <a:latin typeface="Arial"/>
                        </a:rPr>
                        <a:t>Account</a:t>
                      </a:r>
                    </a:p>
                  </a:txBody>
                  <a:tcPr marL="73152" marR="73152" marT="36576" marB="36576">
                    <a:solidFill>
                      <a:srgbClr val="455A64"/>
                    </a:solidFill>
                  </a:tcPr>
                </a:tc>
                <a:tc>
                  <a:txBody>
                    <a:bodyPr/>
                    <a:lstStyle/>
                    <a:p>
                      <a:r>
                        <a:rPr sz="1800" b="1">
                          <a:solidFill>
                            <a:srgbClr val="FFFFFF"/>
                          </a:solidFill>
                          <a:latin typeface="Arial"/>
                        </a:rPr>
                        <a:t>Balance</a:t>
                      </a:r>
                    </a:p>
                  </a:txBody>
                  <a:tcPr marL="73152" marR="73152" marT="36576" marB="36576">
                    <a:solidFill>
                      <a:srgbClr val="455A64"/>
                    </a:solidFill>
                  </a:tcPr>
                </a:tc>
                <a:tc>
                  <a:txBody>
                    <a:bodyPr/>
                    <a:lstStyle/>
                    <a:p>
                      <a:r>
                        <a:rPr sz="1800" b="1">
                          <a:solidFill>
                            <a:srgbClr val="FFFFFF"/>
                          </a:solidFill>
                          <a:latin typeface="Arial"/>
                        </a:rPr>
                        <a:t>Rate %</a:t>
                      </a:r>
                    </a:p>
                  </a:txBody>
                  <a:tcPr marL="73152" marR="73152" marT="36576" marB="36576">
                    <a:solidFill>
                      <a:srgbClr val="455A64"/>
                    </a:solidFill>
                  </a:tcPr>
                </a:tc>
                <a:tc>
                  <a:txBody>
                    <a:bodyPr/>
                    <a:lstStyle/>
                    <a:p>
                      <a:r>
                        <a:rPr sz="1800" b="1">
                          <a:solidFill>
                            <a:srgbClr val="FFFFFF"/>
                          </a:solidFill>
                          <a:latin typeface="Arial"/>
                        </a:rPr>
                        <a:t>Legacy (DOWN)</a:t>
                      </a:r>
                    </a:p>
                  </a:txBody>
                  <a:tcPr marL="73152" marR="73152" marT="36576" marB="36576">
                    <a:solidFill>
                      <a:srgbClr val="455A64"/>
                    </a:solidFill>
                  </a:tcPr>
                </a:tc>
                <a:tc>
                  <a:txBody>
                    <a:bodyPr/>
                    <a:lstStyle/>
                    <a:p>
                      <a:r>
                        <a:rPr sz="1800" b="1">
                          <a:solidFill>
                            <a:srgbClr val="FFFFFF"/>
                          </a:solidFill>
                          <a:latin typeface="Arial"/>
                        </a:rPr>
                        <a:t>Naive (HALF_EVEN)</a:t>
                      </a:r>
                    </a:p>
                  </a:txBody>
                  <a:tcPr marL="73152" marR="73152" marT="36576" marB="36576">
                    <a:solidFill>
                      <a:srgbClr val="455A64"/>
                    </a:solidFill>
                  </a:tcPr>
                </a:tc>
              </a:tr>
              <a:tr h="411480">
                <a:tc>
                  <a:txBody>
                    <a:bodyPr/>
                    <a:lstStyle/>
                    <a:p>
                      <a:r>
                        <a:rPr sz="1800" b="0">
                          <a:solidFill>
                            <a:srgbClr val="1A2744"/>
                          </a:solidFill>
                          <a:latin typeface="Arial"/>
                        </a:rPr>
                        <a:t>ACC-0001</a:t>
                      </a:r>
                    </a:p>
                  </a:txBody>
                  <a:tcPr marL="73152" marR="73152" marT="36576" marB="36576">
                    <a:solidFill>
                      <a:srgbClr val="FFFFFF"/>
                    </a:solidFill>
                  </a:tcPr>
                </a:tc>
                <a:tc>
                  <a:txBody>
                    <a:bodyPr/>
                    <a:lstStyle/>
                    <a:p>
                      <a:r>
                        <a:rPr sz="1800" b="0">
                          <a:solidFill>
                            <a:srgbClr val="1A2744"/>
                          </a:solidFill>
                          <a:latin typeface="Arial"/>
                        </a:rPr>
                        <a:t>1000.00</a:t>
                      </a:r>
                    </a:p>
                  </a:txBody>
                  <a:tcPr marL="73152" marR="73152" marT="36576" marB="36576">
                    <a:solidFill>
                      <a:srgbClr val="FFFFFF"/>
                    </a:solidFill>
                  </a:tcPr>
                </a:tc>
                <a:tc>
                  <a:txBody>
                    <a:bodyPr/>
                    <a:lstStyle/>
                    <a:p>
                      <a:r>
                        <a:rPr sz="1800" b="0">
                          <a:solidFill>
                            <a:srgbClr val="1A2744"/>
                          </a:solidFill>
                          <a:latin typeface="Arial"/>
                        </a:rPr>
                        <a:t>5.00</a:t>
                      </a:r>
                    </a:p>
                  </a:txBody>
                  <a:tcPr marL="73152" marR="73152" marT="36576" marB="36576">
                    <a:solidFill>
                      <a:srgbClr val="FFFFFF"/>
                    </a:solidFill>
                  </a:tcPr>
                </a:tc>
                <a:tc>
                  <a:txBody>
                    <a:bodyPr/>
                    <a:lstStyle/>
                    <a:p>
                      <a:r>
                        <a:rPr sz="1800" b="1">
                          <a:solidFill>
                            <a:srgbClr val="1A2744"/>
                          </a:solidFill>
                          <a:latin typeface="Arial"/>
                        </a:rPr>
                        <a:t>4.16</a:t>
                      </a:r>
                    </a:p>
                  </a:txBody>
                  <a:tcPr marL="73152" marR="73152" marT="36576" marB="36576">
                    <a:solidFill>
                      <a:srgbClr val="FFFFFF"/>
                    </a:solidFill>
                  </a:tcPr>
                </a:tc>
                <a:tc>
                  <a:txBody>
                    <a:bodyPr/>
                    <a:lstStyle/>
                    <a:p>
                      <a:r>
                        <a:rPr sz="1800" b="0">
                          <a:solidFill>
                            <a:srgbClr val="1A2744"/>
                          </a:solidFill>
                          <a:latin typeface="Arial"/>
                        </a:rPr>
                        <a:t>4.17</a:t>
                      </a:r>
                    </a:p>
                  </a:txBody>
                  <a:tcPr marL="73152" marR="73152" marT="36576" marB="36576">
                    <a:solidFill>
                      <a:srgbClr val="FFFFFF"/>
                    </a:solidFill>
                  </a:tcPr>
                </a:tc>
              </a:tr>
              <a:tr h="411480">
                <a:tc>
                  <a:txBody>
                    <a:bodyPr/>
                    <a:lstStyle/>
                    <a:p>
                      <a:r>
                        <a:rPr sz="1800" b="0">
                          <a:solidFill>
                            <a:srgbClr val="1A2744"/>
                          </a:solidFill>
                          <a:latin typeface="Arial"/>
                        </a:rPr>
                        <a:t>ACC-0004</a:t>
                      </a:r>
                    </a:p>
                  </a:txBody>
                  <a:tcPr marL="73152" marR="73152" marT="36576" marB="36576">
                    <a:solidFill>
                      <a:srgbClr val="EEF0F2"/>
                    </a:solidFill>
                  </a:tcPr>
                </a:tc>
                <a:tc>
                  <a:txBody>
                    <a:bodyPr/>
                    <a:lstStyle/>
                    <a:p>
                      <a:r>
                        <a:rPr sz="1800" b="0">
                          <a:solidFill>
                            <a:srgbClr val="1A2744"/>
                          </a:solidFill>
                          <a:latin typeface="Arial"/>
                        </a:rPr>
                        <a:t>999999.99</a:t>
                      </a:r>
                    </a:p>
                  </a:txBody>
                  <a:tcPr marL="73152" marR="73152" marT="36576" marB="36576">
                    <a:solidFill>
                      <a:srgbClr val="EEF0F2"/>
                    </a:solidFill>
                  </a:tcPr>
                </a:tc>
                <a:tc>
                  <a:txBody>
                    <a:bodyPr/>
                    <a:lstStyle/>
                    <a:p>
                      <a:r>
                        <a:rPr sz="1800" b="0">
                          <a:solidFill>
                            <a:srgbClr val="1A2744"/>
                          </a:solidFill>
                          <a:latin typeface="Arial"/>
                        </a:rPr>
                        <a:t>4.10</a:t>
                      </a:r>
                    </a:p>
                  </a:txBody>
                  <a:tcPr marL="73152" marR="73152" marT="36576" marB="36576">
                    <a:solidFill>
                      <a:srgbClr val="EEF0F2"/>
                    </a:solidFill>
                  </a:tcPr>
                </a:tc>
                <a:tc>
                  <a:txBody>
                    <a:bodyPr/>
                    <a:lstStyle/>
                    <a:p>
                      <a:r>
                        <a:rPr sz="1800" b="1">
                          <a:solidFill>
                            <a:srgbClr val="1A2744"/>
                          </a:solidFill>
                          <a:latin typeface="Arial"/>
                        </a:rPr>
                        <a:t>3416.66</a:t>
                      </a:r>
                    </a:p>
                  </a:txBody>
                  <a:tcPr marL="73152" marR="73152" marT="36576" marB="36576">
                    <a:solidFill>
                      <a:srgbClr val="EEF0F2"/>
                    </a:solidFill>
                  </a:tcPr>
                </a:tc>
                <a:tc>
                  <a:txBody>
                    <a:bodyPr/>
                    <a:lstStyle/>
                    <a:p>
                      <a:r>
                        <a:rPr sz="1800" b="0">
                          <a:solidFill>
                            <a:srgbClr val="1A2744"/>
                          </a:solidFill>
                          <a:latin typeface="Arial"/>
                        </a:rPr>
                        <a:t>3416.67</a:t>
                      </a:r>
                    </a:p>
                  </a:txBody>
                  <a:tcPr marL="73152" marR="73152" marT="36576" marB="36576">
                    <a:solidFill>
                      <a:srgbClr val="EEF0F2"/>
                    </a:solidFill>
                  </a:tcPr>
                </a:tc>
              </a:tr>
              <a:tr h="411480">
                <a:tc>
                  <a:txBody>
                    <a:bodyPr/>
                    <a:lstStyle/>
                    <a:p>
                      <a:r>
                        <a:rPr sz="1800" b="0">
                          <a:solidFill>
                            <a:srgbClr val="1A2744"/>
                          </a:solidFill>
                          <a:latin typeface="Arial"/>
                        </a:rPr>
                        <a:t>ACC-0007</a:t>
                      </a:r>
                    </a:p>
                  </a:txBody>
                  <a:tcPr marL="73152" marR="73152" marT="36576" marB="36576">
                    <a:solidFill>
                      <a:srgbClr val="FFFFFF"/>
                    </a:solidFill>
                  </a:tcPr>
                </a:tc>
                <a:tc>
                  <a:txBody>
                    <a:bodyPr/>
                    <a:lstStyle/>
                    <a:p>
                      <a:r>
                        <a:rPr sz="1800" b="0">
                          <a:solidFill>
                            <a:srgbClr val="1A2744"/>
                          </a:solidFill>
                          <a:latin typeface="Arial"/>
                        </a:rPr>
                        <a:t>-100.00</a:t>
                      </a:r>
                    </a:p>
                  </a:txBody>
                  <a:tcPr marL="73152" marR="73152" marT="36576" marB="36576">
                    <a:solidFill>
                      <a:srgbClr val="FFFFFF"/>
                    </a:solidFill>
                  </a:tcPr>
                </a:tc>
                <a:tc>
                  <a:txBody>
                    <a:bodyPr/>
                    <a:lstStyle/>
                    <a:p>
                      <a:r>
                        <a:rPr sz="1800" b="0">
                          <a:solidFill>
                            <a:srgbClr val="1A2744"/>
                          </a:solidFill>
                          <a:latin typeface="Arial"/>
                        </a:rPr>
                        <a:t>19.99</a:t>
                      </a:r>
                    </a:p>
                  </a:txBody>
                  <a:tcPr marL="73152" marR="73152" marT="36576" marB="36576">
                    <a:solidFill>
                      <a:srgbClr val="FFFFFF"/>
                    </a:solidFill>
                  </a:tcPr>
                </a:tc>
                <a:tc>
                  <a:txBody>
                    <a:bodyPr/>
                    <a:lstStyle/>
                    <a:p>
                      <a:r>
                        <a:rPr sz="1800" b="1">
                          <a:solidFill>
                            <a:srgbClr val="1A2744"/>
                          </a:solidFill>
                          <a:latin typeface="Arial"/>
                        </a:rPr>
                        <a:t>-1.66</a:t>
                      </a:r>
                    </a:p>
                  </a:txBody>
                  <a:tcPr marL="73152" marR="73152" marT="36576" marB="36576">
                    <a:solidFill>
                      <a:srgbClr val="FFFFFF"/>
                    </a:solidFill>
                  </a:tcPr>
                </a:tc>
                <a:tc>
                  <a:txBody>
                    <a:bodyPr/>
                    <a:lstStyle/>
                    <a:p>
                      <a:r>
                        <a:rPr sz="1800" b="0">
                          <a:solidFill>
                            <a:srgbClr val="1A2744"/>
                          </a:solidFill>
                          <a:latin typeface="Arial"/>
                        </a:rPr>
                        <a:t>-1.67</a:t>
                      </a:r>
                    </a:p>
                  </a:txBody>
                  <a:tcPr marL="73152" marR="73152" marT="36576" marB="36576">
                    <a:solidFill>
                      <a:srgbClr val="FFFFFF"/>
                    </a:solidFill>
                  </a:tcPr>
                </a:tc>
              </a:tr>
            </a:tbl>
          </a:graphicData>
        </a:graphic>
      </p:graphicFrame>
      <p:sp>
        <p:nvSpPr>
          <p:cNvPr id="4" name="TextBox 3"/>
          <p:cNvSpPr txBox="1"/>
          <p:nvPr/>
        </p:nvSpPr>
        <p:spPr>
          <a:xfrm>
            <a:off x="548640" y="3931920"/>
            <a:ext cx="11094415" cy="869696"/>
          </a:xfrm>
          <a:prstGeom prst="rect">
            <a:avLst/>
          </a:prstGeom>
          <a:noFill/>
        </p:spPr>
        <p:txBody>
          <a:bodyPr wrap="square" lIns="45720" rIns="45720">
            <a:spAutoFit/>
          </a:bodyPr>
          <a:lstStyle/>
          <a:p>
            <a:pPr>
              <a:spcAft>
                <a:spcPts val="800"/>
              </a:spcAft>
            </a:pPr>
            <a:r>
              <a:rPr sz="2200" b="0">
                <a:solidFill>
                  <a:srgbClr val="1A2744"/>
                </a:solidFill>
                <a:latin typeface="Arial"/>
              </a:rPr>
              <a:t>The other 5 accounts match. Fixture: </a:t>
            </a:r>
            <a:r>
              <a:rPr sz="2200" b="0">
                <a:solidFill>
                  <a:srgbClr val="1A2744"/>
                </a:solidFill>
                <a:latin typeface="Courier New"/>
              </a:rPr>
              <a:t>monthly-interest.csv</a:t>
            </a:r>
            <a:r>
              <a:rPr sz="2200" b="0">
                <a:solidFill>
                  <a:srgbClr val="1A2744"/>
                </a:solidFill>
                <a:latin typeface="Arial"/>
              </a:rPr>
              <a:t>, </a:t>
            </a:r>
            <a:r>
              <a:rPr sz="2200" b="1">
                <a:solidFill>
                  <a:srgbClr val="1A2744"/>
                </a:solidFill>
                <a:latin typeface="Arial"/>
              </a:rPr>
              <a:t>illustrative, worked out by hand from the COBOL semantics</a:t>
            </a:r>
            <a:r>
              <a:rPr sz="2200" b="0">
                <a:solidFill>
                  <a:srgbClr val="1A2744"/>
                </a:solidFill>
                <a:latin typeface="Arial"/>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45720" rIns="45720">
            <a:spAutoFit/>
          </a:bodyPr>
          <a:lstStyle/>
          <a:p>
            <a:r>
              <a:rPr sz="3400" b="1">
                <a:solidFill>
                  <a:srgbClr val="0D1B3E"/>
                </a:solidFill>
                <a:latin typeface="Arial"/>
              </a:rPr>
              <a:t>Testing and reconciliation</a:t>
            </a:r>
          </a:p>
        </p:txBody>
      </p:sp>
      <p:sp>
        <p:nvSpPr>
          <p:cNvPr id="3" name="TextBox 2"/>
          <p:cNvSpPr txBox="1"/>
          <p:nvPr/>
        </p:nvSpPr>
        <p:spPr>
          <a:xfrm>
            <a:off x="548640" y="1325880"/>
            <a:ext cx="11094415" cy="3783584"/>
          </a:xfrm>
          <a:prstGeom prst="rect">
            <a:avLst/>
          </a:prstGeom>
          <a:noFill/>
        </p:spPr>
        <p:txBody>
          <a:bodyPr wrap="square" lIns="45720" rIns="45720">
            <a:spAutoFit/>
          </a:bodyPr>
          <a:lstStyle/>
          <a:p>
            <a:pPr>
              <a:spcAft>
                <a:spcPts val="800"/>
              </a:spcAft>
            </a:pPr>
            <a:r>
              <a:rPr sz="2200" b="0">
                <a:solidFill>
                  <a:srgbClr val="1A2744"/>
                </a:solidFill>
                <a:latin typeface="Arial"/>
              </a:rPr>
              <a:t>•  </a:t>
            </a:r>
            <a:r>
              <a:rPr sz="2200" b="1">
                <a:solidFill>
                  <a:srgbClr val="1A2744"/>
                </a:solidFill>
                <a:latin typeface="Arial"/>
              </a:rPr>
              <a:t>Golden master:</a:t>
            </a:r>
            <a:r>
              <a:rPr sz="2200" b="0">
                <a:solidFill>
                  <a:srgbClr val="1A2744"/>
                </a:solidFill>
                <a:latin typeface="Arial"/>
              </a:rPr>
              <a:t> capture legacy outputs before changing anything</a:t>
            </a:r>
          </a:p>
          <a:p>
            <a:pPr>
              <a:spcAft>
                <a:spcPts val="800"/>
              </a:spcAft>
            </a:pPr>
            <a:r>
              <a:rPr sz="2200" b="0">
                <a:solidFill>
                  <a:srgbClr val="1A2744"/>
                </a:solidFill>
                <a:latin typeface="Arial"/>
              </a:rPr>
              <a:t>•  </a:t>
            </a:r>
            <a:r>
              <a:rPr sz="2200" b="1">
                <a:solidFill>
                  <a:srgbClr val="1A2744"/>
                </a:solidFill>
                <a:latin typeface="Arial"/>
              </a:rPr>
              <a:t>Record and replay</a:t>
            </a:r>
            <a:r>
              <a:rPr sz="2200" b="0">
                <a:solidFill>
                  <a:srgbClr val="1A2744"/>
                </a:solidFill>
                <a:latin typeface="Arial"/>
              </a:rPr>
              <a:t> masked production transactions on both systems</a:t>
            </a:r>
          </a:p>
          <a:p>
            <a:pPr>
              <a:spcAft>
                <a:spcPts val="800"/>
              </a:spcAft>
            </a:pPr>
            <a:r>
              <a:rPr sz="2200" b="0">
                <a:solidFill>
                  <a:srgbClr val="1A2744"/>
                </a:solidFill>
                <a:latin typeface="Arial"/>
              </a:rPr>
              <a:t>•  </a:t>
            </a:r>
            <a:r>
              <a:rPr sz="2200" b="1">
                <a:solidFill>
                  <a:srgbClr val="1A2744"/>
                </a:solidFill>
                <a:latin typeface="Arial"/>
              </a:rPr>
              <a:t>Differential testing</a:t>
            </a:r>
            <a:r>
              <a:rPr sz="2200" b="0">
                <a:solidFill>
                  <a:srgbClr val="1A2744"/>
                </a:solidFill>
                <a:latin typeface="Arial"/>
              </a:rPr>
              <a:t> field by field, tolerance normally zero for amounts</a:t>
            </a:r>
          </a:p>
          <a:p>
            <a:pPr>
              <a:spcAft>
                <a:spcPts val="800"/>
              </a:spcAft>
            </a:pPr>
            <a:r>
              <a:rPr sz="2200" b="0">
                <a:solidFill>
                  <a:srgbClr val="1A2744"/>
                </a:solidFill>
                <a:latin typeface="Arial"/>
              </a:rPr>
              <a:t>•  </a:t>
            </a:r>
            <a:r>
              <a:rPr sz="2200" b="1">
                <a:solidFill>
                  <a:srgbClr val="1A2744"/>
                </a:solidFill>
                <a:latin typeface="Arial"/>
              </a:rPr>
              <a:t>Property-based testing</a:t>
            </a:r>
            <a:r>
              <a:rPr sz="2200" b="0">
                <a:solidFill>
                  <a:srgbClr val="1A2744"/>
                </a:solidFill>
                <a:latin typeface="Arial"/>
              </a:rPr>
              <a:t> for rounding, accrual, fee caps, FX</a:t>
            </a:r>
          </a:p>
          <a:p>
            <a:pPr>
              <a:spcAft>
                <a:spcPts val="800"/>
              </a:spcAft>
            </a:pPr>
            <a:r>
              <a:rPr sz="2200" b="0">
                <a:solidFill>
                  <a:srgbClr val="1A2744"/>
                </a:solidFill>
                <a:latin typeface="Arial"/>
              </a:rPr>
              <a:t>•  </a:t>
            </a:r>
            <a:r>
              <a:rPr sz="2200" b="1">
                <a:solidFill>
                  <a:srgbClr val="1A2744"/>
                </a:solidFill>
                <a:latin typeface="Arial"/>
              </a:rPr>
              <a:t>Reconcile at three levels:</a:t>
            </a:r>
            <a:r>
              <a:rPr sz="2200" b="0">
                <a:solidFill>
                  <a:srgbClr val="1A2744"/>
                </a:solidFill>
                <a:latin typeface="Arial"/>
              </a:rPr>
              <a:t> record, account balance, general ledger per business date</a:t>
            </a:r>
          </a:p>
          <a:p>
            <a:pPr>
              <a:spcAft>
                <a:spcPts val="800"/>
              </a:spcAft>
            </a:pPr>
            <a:r>
              <a:rPr sz="2200" b="0">
                <a:solidFill>
                  <a:srgbClr val="1A2744"/>
                </a:solidFill>
                <a:latin typeface="Arial"/>
              </a:rPr>
              <a:t>•  </a:t>
            </a:r>
            <a:r>
              <a:rPr sz="2200" b="1">
                <a:solidFill>
                  <a:srgbClr val="1A2744"/>
                </a:solidFill>
                <a:latin typeface="Arial"/>
              </a:rPr>
              <a:t>Parallel run</a:t>
            </a:r>
            <a:r>
              <a:rPr sz="2200" b="0">
                <a:solidFill>
                  <a:srgbClr val="1A2744"/>
                </a:solidFill>
                <a:latin typeface="Arial"/>
              </a:rPr>
              <a:t> over a full cycle with month-end</a:t>
            </a:r>
          </a:p>
          <a:p>
            <a:pPr>
              <a:spcAft>
                <a:spcPts val="800"/>
              </a:spcAft>
            </a:pPr>
            <a:r>
              <a:rPr sz="2200" b="0">
                <a:solidFill>
                  <a:srgbClr val="1A2744"/>
                </a:solidFill>
                <a:latin typeface="Arial"/>
              </a:rPr>
              <a:t>•  </a:t>
            </a:r>
            <a:r>
              <a:rPr sz="2200" b="1">
                <a:solidFill>
                  <a:srgbClr val="1A2744"/>
                </a:solidFill>
                <a:latin typeface="Arial"/>
              </a:rPr>
              <a:t>Operational tests:</a:t>
            </a:r>
            <a:r>
              <a:rPr sz="2200" b="0">
                <a:solidFill>
                  <a:srgbClr val="1A2744"/>
                </a:solidFill>
                <a:latin typeface="Arial"/>
              </a:rPr>
              <a:t> failover, mid-batch restart, duplicates, replay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ninety-day-plan.png"/>
          <p:cNvPicPr>
            <a:picLocks noChangeAspect="1"/>
          </p:cNvPicPr>
          <p:nvPr/>
        </p:nvPicPr>
        <p:blipFill>
          <a:blip r:embed="rId2"/>
          <a:stretch>
            <a:fillRect/>
          </a:stretch>
        </p:blipFill>
        <p:spPr>
          <a:xfrm>
            <a:off x="6796873" y="274320"/>
            <a:ext cx="5211942" cy="5019153"/>
          </a:xfrm>
          <a:prstGeom prst="rect">
            <a:avLst/>
          </a:prstGeom>
        </p:spPr>
      </p:pic>
      <p:sp>
        <p:nvSpPr>
          <p:cNvPr id="3" name="TextBox 2"/>
          <p:cNvSpPr txBox="1"/>
          <p:nvPr/>
        </p:nvSpPr>
        <p:spPr>
          <a:xfrm>
            <a:off x="548640" y="411480"/>
            <a:ext cx="5882473" cy="822960"/>
          </a:xfrm>
          <a:prstGeom prst="rect">
            <a:avLst/>
          </a:prstGeom>
          <a:noFill/>
        </p:spPr>
        <p:txBody>
          <a:bodyPr wrap="square" lIns="45720" rIns="45720">
            <a:spAutoFit/>
          </a:bodyPr>
          <a:lstStyle/>
          <a:p>
            <a:r>
              <a:rPr sz="3400" b="1">
                <a:solidFill>
                  <a:srgbClr val="0D1B3E"/>
                </a:solidFill>
                <a:latin typeface="Arial"/>
              </a:rPr>
              <a:t>A first 90-day initiative</a:t>
            </a:r>
          </a:p>
        </p:txBody>
      </p:sp>
      <p:sp>
        <p:nvSpPr>
          <p:cNvPr id="4" name="TextBox 3"/>
          <p:cNvSpPr txBox="1"/>
          <p:nvPr/>
        </p:nvSpPr>
        <p:spPr>
          <a:xfrm>
            <a:off x="548640" y="2011680"/>
            <a:ext cx="5882473" cy="3377184"/>
          </a:xfrm>
          <a:prstGeom prst="rect">
            <a:avLst/>
          </a:prstGeom>
          <a:noFill/>
        </p:spPr>
        <p:txBody>
          <a:bodyPr wrap="square" lIns="45720" rIns="45720">
            <a:spAutoFit/>
          </a:bodyPr>
          <a:lstStyle/>
          <a:p>
            <a:pPr>
              <a:spcAft>
                <a:spcPts val="800"/>
              </a:spcAft>
            </a:pPr>
            <a:r>
              <a:rPr sz="2200" b="0">
                <a:solidFill>
                  <a:srgbClr val="1A2744"/>
                </a:solidFill>
                <a:latin typeface="Arial"/>
              </a:rPr>
              <a:t>•  </a:t>
            </a:r>
            <a:r>
              <a:rPr sz="2200" b="1">
                <a:solidFill>
                  <a:srgbClr val="1A2744"/>
                </a:solidFill>
                <a:latin typeface="Arial"/>
              </a:rPr>
              <a:t>Days 1-30, scope:</a:t>
            </a:r>
            <a:r>
              <a:rPr sz="2200" b="0">
                <a:solidFill>
                  <a:srgbClr val="1A2744"/>
                </a:solidFill>
                <a:latin typeface="Arial"/>
              </a:rPr>
              <a:t> one bounded capability, inventory, risks, baseline metrics</a:t>
            </a:r>
          </a:p>
          <a:p>
            <a:pPr>
              <a:spcAft>
                <a:spcPts val="800"/>
              </a:spcAft>
            </a:pPr>
            <a:r>
              <a:rPr sz="2200" b="0">
                <a:solidFill>
                  <a:srgbClr val="1A2744"/>
                </a:solidFill>
                <a:latin typeface="Arial"/>
              </a:rPr>
              <a:t>•  </a:t>
            </a:r>
            <a:r>
              <a:rPr sz="2200" b="1">
                <a:solidFill>
                  <a:srgbClr val="1A2744"/>
                </a:solidFill>
                <a:latin typeface="Arial"/>
              </a:rPr>
              <a:t>Days 31-60, discover:</a:t>
            </a:r>
            <a:r>
              <a:rPr sz="2200" b="0">
                <a:solidFill>
                  <a:srgbClr val="1A2744"/>
                </a:solidFill>
                <a:latin typeface="Arial"/>
              </a:rPr>
              <a:t> AI discovery PoC, rule catalog, characterization tests</a:t>
            </a:r>
          </a:p>
          <a:p>
            <a:pPr>
              <a:spcAft>
                <a:spcPts val="800"/>
              </a:spcAft>
            </a:pPr>
            <a:r>
              <a:rPr sz="2200" b="0">
                <a:solidFill>
                  <a:srgbClr val="1A2744"/>
                </a:solidFill>
                <a:latin typeface="Arial"/>
              </a:rPr>
              <a:t>•  </a:t>
            </a:r>
            <a:r>
              <a:rPr sz="2200" b="1">
                <a:solidFill>
                  <a:srgbClr val="1A2744"/>
                </a:solidFill>
                <a:latin typeface="Arial"/>
              </a:rPr>
              <a:t>Days 61-90, prove:</a:t>
            </a:r>
            <a:r>
              <a:rPr sz="2200" b="0">
                <a:solidFill>
                  <a:srgbClr val="1A2744"/>
                </a:solidFill>
                <a:latin typeface="Arial"/>
              </a:rPr>
              <a:t> one slice in shadow mode, reconciliation report, roadmap</a:t>
            </a:r>
          </a:p>
        </p:txBody>
      </p:sp>
      <p:sp>
        <p:nvSpPr>
          <p:cNvPr id="5" name="TextBox 4"/>
          <p:cNvSpPr txBox="1"/>
          <p:nvPr/>
        </p:nvSpPr>
        <p:spPr>
          <a:xfrm>
            <a:off x="548640" y="5571744"/>
            <a:ext cx="5882473" cy="869696"/>
          </a:xfrm>
          <a:prstGeom prst="rect">
            <a:avLst/>
          </a:prstGeom>
          <a:noFill/>
        </p:spPr>
        <p:txBody>
          <a:bodyPr wrap="square" lIns="45720" rIns="45720">
            <a:spAutoFit/>
          </a:bodyPr>
          <a:lstStyle/>
          <a:p>
            <a:pPr>
              <a:spcAft>
                <a:spcPts val="800"/>
              </a:spcAft>
            </a:pPr>
            <a:r>
              <a:rPr sz="2200" b="0">
                <a:solidFill>
                  <a:srgbClr val="1A2744"/>
                </a:solidFill>
                <a:latin typeface="Arial"/>
              </a:rPr>
              <a:t>Pick a capability </a:t>
            </a:r>
            <a:r>
              <a:rPr sz="2200" b="1">
                <a:solidFill>
                  <a:srgbClr val="1A2744"/>
                </a:solidFill>
                <a:latin typeface="Arial"/>
              </a:rPr>
              <a:t>valuable enough to matter, bounded enough to finish</a:t>
            </a:r>
            <a:r>
              <a:rPr sz="2200" b="0">
                <a:solidFill>
                  <a:srgbClr val="1A2744"/>
                </a:solidFill>
                <a:latin typeface="Arial"/>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45720" rIns="45720">
            <a:spAutoFit/>
          </a:bodyPr>
          <a:lstStyle/>
          <a:p>
            <a:r>
              <a:rPr sz="3400" b="1">
                <a:solidFill>
                  <a:srgbClr val="0D1B3E"/>
                </a:solidFill>
                <a:latin typeface="Arial"/>
              </a:rPr>
              <a:t>How to know it is working</a:t>
            </a:r>
          </a:p>
        </p:txBody>
      </p:sp>
      <p:graphicFrame>
        <p:nvGraphicFramePr>
          <p:cNvPr id="3" name="Table 2"/>
          <p:cNvGraphicFramePr>
            <a:graphicFrameLocks noGrp="1"/>
          </p:cNvGraphicFramePr>
          <p:nvPr/>
        </p:nvGraphicFramePr>
        <p:xfrm>
          <a:off x="548640" y="1325880"/>
          <a:ext cx="11094414" cy="2880360"/>
        </p:xfrm>
        <a:graphic>
          <a:graphicData uri="http://schemas.openxmlformats.org/drawingml/2006/table">
            <a:tbl>
              <a:tblPr firstRow="1" bandRow="1">
                <a:tableStyleId>{5C22544A-7EE6-4342-B048-85BDC9FD1C3A}</a:tableStyleId>
              </a:tblPr>
              <a:tblGrid>
                <a:gridCol w="3612135"/>
                <a:gridCol w="7482279"/>
              </a:tblGrid>
              <a:tr h="411480">
                <a:tc>
                  <a:txBody>
                    <a:bodyPr/>
                    <a:lstStyle/>
                    <a:p>
                      <a:r>
                        <a:rPr sz="1800" b="1">
                          <a:solidFill>
                            <a:srgbClr val="FFFFFF"/>
                          </a:solidFill>
                          <a:latin typeface="Arial"/>
                        </a:rPr>
                        <a:t>Measure</a:t>
                      </a:r>
                    </a:p>
                  </a:txBody>
                  <a:tcPr marL="73152" marR="73152" marT="36576" marB="36576">
                    <a:solidFill>
                      <a:srgbClr val="455A64"/>
                    </a:solidFill>
                  </a:tcPr>
                </a:tc>
                <a:tc>
                  <a:txBody>
                    <a:bodyPr/>
                    <a:lstStyle/>
                    <a:p>
                      <a:r>
                        <a:rPr sz="1800" b="1">
                          <a:solidFill>
                            <a:srgbClr val="FFFFFF"/>
                          </a:solidFill>
                          <a:latin typeface="Arial"/>
                        </a:rPr>
                        <a:t>How to measure</a:t>
                      </a:r>
                    </a:p>
                  </a:txBody>
                  <a:tcPr marL="73152" marR="73152" marT="36576" marB="36576">
                    <a:solidFill>
                      <a:srgbClr val="455A64"/>
                    </a:solidFill>
                  </a:tcPr>
                </a:tc>
              </a:tr>
              <a:tr h="411480">
                <a:tc>
                  <a:txBody>
                    <a:bodyPr/>
                    <a:lstStyle/>
                    <a:p>
                      <a:r>
                        <a:rPr sz="1800" b="0">
                          <a:solidFill>
                            <a:srgbClr val="1A2744"/>
                          </a:solidFill>
                          <a:latin typeface="Arial"/>
                        </a:rPr>
                        <a:t>Discovery effort</a:t>
                      </a:r>
                    </a:p>
                  </a:txBody>
                  <a:tcPr marL="73152" marR="73152" marT="36576" marB="36576">
                    <a:solidFill>
                      <a:srgbClr val="FFFFFF"/>
                    </a:solidFill>
                  </a:tcPr>
                </a:tc>
                <a:tc>
                  <a:txBody>
                    <a:bodyPr/>
                    <a:lstStyle/>
                    <a:p>
                      <a:r>
                        <a:rPr sz="1800" b="0">
                          <a:solidFill>
                            <a:srgbClr val="1A2744"/>
                          </a:solidFill>
                          <a:latin typeface="Arial"/>
                        </a:rPr>
                        <a:t>Person-days per program or capability, with and without AI</a:t>
                      </a:r>
                    </a:p>
                  </a:txBody>
                  <a:tcPr marL="73152" marR="73152" marT="36576" marB="36576">
                    <a:solidFill>
                      <a:srgbClr val="FFFFFF"/>
                    </a:solidFill>
                  </a:tcPr>
                </a:tc>
              </a:tr>
              <a:tr h="411480">
                <a:tc>
                  <a:txBody>
                    <a:bodyPr/>
                    <a:lstStyle/>
                    <a:p>
                      <a:r>
                        <a:rPr sz="1800" b="0">
                          <a:solidFill>
                            <a:srgbClr val="1A2744"/>
                          </a:solidFill>
                          <a:latin typeface="Arial"/>
                        </a:rPr>
                        <a:t>Business rules validated</a:t>
                      </a:r>
                    </a:p>
                  </a:txBody>
                  <a:tcPr marL="73152" marR="73152" marT="36576" marB="36576">
                    <a:solidFill>
                      <a:srgbClr val="EEF0F2"/>
                    </a:solidFill>
                  </a:tcPr>
                </a:tc>
                <a:tc>
                  <a:txBody>
                    <a:bodyPr/>
                    <a:lstStyle/>
                    <a:p>
                      <a:r>
                        <a:rPr sz="1800" b="0">
                          <a:solidFill>
                            <a:srgbClr val="1A2744"/>
                          </a:solidFill>
                          <a:latin typeface="Arial"/>
                        </a:rPr>
                        <a:t>Confirmed by experts / candidates extracted</a:t>
                      </a:r>
                    </a:p>
                  </a:txBody>
                  <a:tcPr marL="73152" marR="73152" marT="36576" marB="36576">
                    <a:solidFill>
                      <a:srgbClr val="EEF0F2"/>
                    </a:solidFill>
                  </a:tcPr>
                </a:tc>
              </a:tr>
              <a:tr h="411480">
                <a:tc>
                  <a:txBody>
                    <a:bodyPr/>
                    <a:lstStyle/>
                    <a:p>
                      <a:r>
                        <a:rPr sz="1800" b="0">
                          <a:solidFill>
                            <a:srgbClr val="1A2744"/>
                          </a:solidFill>
                          <a:latin typeface="Arial"/>
                        </a:rPr>
                        <a:t>Rule extraction quality</a:t>
                      </a:r>
                    </a:p>
                  </a:txBody>
                  <a:tcPr marL="73152" marR="73152" marT="36576" marB="36576">
                    <a:solidFill>
                      <a:srgbClr val="FFFFFF"/>
                    </a:solidFill>
                  </a:tcPr>
                </a:tc>
                <a:tc>
                  <a:txBody>
                    <a:bodyPr/>
                    <a:lstStyle/>
                    <a:p>
                      <a:r>
                        <a:rPr sz="1800" b="0">
                          <a:solidFill>
                            <a:srgbClr val="1A2744"/>
                          </a:solidFill>
                          <a:latin typeface="Arial"/>
                        </a:rPr>
                        <a:t>Precision and recall on the evaluation set</a:t>
                      </a:r>
                    </a:p>
                  </a:txBody>
                  <a:tcPr marL="73152" marR="73152" marT="36576" marB="36576">
                    <a:solidFill>
                      <a:srgbClr val="FFFFFF"/>
                    </a:solidFill>
                  </a:tcPr>
                </a:tc>
              </a:tr>
              <a:tr h="411480">
                <a:tc>
                  <a:txBody>
                    <a:bodyPr/>
                    <a:lstStyle/>
                    <a:p>
                      <a:r>
                        <a:rPr sz="1800" b="0">
                          <a:solidFill>
                            <a:srgbClr val="1A2744"/>
                          </a:solidFill>
                          <a:latin typeface="Arial"/>
                        </a:rPr>
                        <a:t>Reconciliation discrepancies</a:t>
                      </a:r>
                    </a:p>
                  </a:txBody>
                  <a:tcPr marL="73152" marR="73152" marT="36576" marB="36576">
                    <a:solidFill>
                      <a:srgbClr val="EEF0F2"/>
                    </a:solidFill>
                  </a:tcPr>
                </a:tc>
                <a:tc>
                  <a:txBody>
                    <a:bodyPr/>
                    <a:lstStyle/>
                    <a:p>
                      <a:r>
                        <a:rPr sz="1800" b="0">
                          <a:solidFill>
                            <a:srgbClr val="1A2744"/>
                          </a:solidFill>
                          <a:latin typeface="Arial"/>
                        </a:rPr>
                        <a:t>Count and value of breaks per business date, by root cause</a:t>
                      </a:r>
                    </a:p>
                  </a:txBody>
                  <a:tcPr marL="73152" marR="73152" marT="36576" marB="36576">
                    <a:solidFill>
                      <a:srgbClr val="EEF0F2"/>
                    </a:solidFill>
                  </a:tcPr>
                </a:tc>
              </a:tr>
              <a:tr h="411480">
                <a:tc>
                  <a:txBody>
                    <a:bodyPr/>
                    <a:lstStyle/>
                    <a:p>
                      <a:r>
                        <a:rPr sz="1800" b="0">
                          <a:solidFill>
                            <a:srgbClr val="1A2744"/>
                          </a:solidFill>
                          <a:latin typeface="Arial"/>
                        </a:rPr>
                        <a:t>Change lead time</a:t>
                      </a:r>
                    </a:p>
                  </a:txBody>
                  <a:tcPr marL="73152" marR="73152" marT="36576" marB="36576">
                    <a:solidFill>
                      <a:srgbClr val="FFFFFF"/>
                    </a:solidFill>
                  </a:tcPr>
                </a:tc>
                <a:tc>
                  <a:txBody>
                    <a:bodyPr/>
                    <a:lstStyle/>
                    <a:p>
                      <a:r>
                        <a:rPr sz="1800" b="0">
                          <a:solidFill>
                            <a:srgbClr val="1A2744"/>
                          </a:solidFill>
                          <a:latin typeface="Arial"/>
                        </a:rPr>
                        <a:t>Request to production, before and after</a:t>
                      </a:r>
                    </a:p>
                  </a:txBody>
                  <a:tcPr marL="73152" marR="73152" marT="36576" marB="36576">
                    <a:solidFill>
                      <a:srgbClr val="FFFFFF"/>
                    </a:solidFill>
                  </a:tcPr>
                </a:tc>
              </a:tr>
              <a:tr h="411480">
                <a:tc>
                  <a:txBody>
                    <a:bodyPr/>
                    <a:lstStyle/>
                    <a:p>
                      <a:r>
                        <a:rPr sz="1800" b="0">
                          <a:solidFill>
                            <a:srgbClr val="1A2744"/>
                          </a:solidFill>
                          <a:latin typeface="Arial"/>
                        </a:rPr>
                        <a:t>Cost</a:t>
                      </a:r>
                    </a:p>
                  </a:txBody>
                  <a:tcPr marL="73152" marR="73152" marT="36576" marB="36576">
                    <a:solidFill>
                      <a:srgbClr val="EEF0F2"/>
                    </a:solidFill>
                  </a:tcPr>
                </a:tc>
                <a:tc>
                  <a:txBody>
                    <a:bodyPr/>
                    <a:lstStyle/>
                    <a:p>
                      <a:r>
                        <a:rPr sz="1800" b="0">
                          <a:solidFill>
                            <a:srgbClr val="1A2744"/>
                          </a:solidFill>
                          <a:latin typeface="Arial"/>
                        </a:rPr>
                        <a:t>Legacy plus new during coexistence; MIPS/MSU reduction</a:t>
                      </a:r>
                    </a:p>
                  </a:txBody>
                  <a:tcPr marL="73152" marR="73152" marT="36576" marB="36576">
                    <a:solidFill>
                      <a:srgbClr val="EEF0F2"/>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45720" rIns="45720">
            <a:spAutoFit/>
          </a:bodyPr>
          <a:lstStyle/>
          <a:p>
            <a:r>
              <a:rPr sz="3400" b="1">
                <a:solidFill>
                  <a:srgbClr val="0D1B3E"/>
                </a:solidFill>
                <a:latin typeface="Arial"/>
              </a:rPr>
              <a:t>Open questions to settle early</a:t>
            </a:r>
          </a:p>
        </p:txBody>
      </p:sp>
      <p:sp>
        <p:nvSpPr>
          <p:cNvPr id="3" name="TextBox 2"/>
          <p:cNvSpPr txBox="1"/>
          <p:nvPr/>
        </p:nvSpPr>
        <p:spPr>
          <a:xfrm>
            <a:off x="548640" y="1325880"/>
            <a:ext cx="11094415" cy="3964432"/>
          </a:xfrm>
          <a:prstGeom prst="rect">
            <a:avLst/>
          </a:prstGeom>
          <a:noFill/>
        </p:spPr>
        <p:txBody>
          <a:bodyPr wrap="square" lIns="45720" rIns="45720">
            <a:spAutoFit/>
          </a:bodyPr>
          <a:lstStyle/>
          <a:p>
            <a:pPr>
              <a:spcAft>
                <a:spcPts val="800"/>
              </a:spcAft>
            </a:pPr>
            <a:r>
              <a:rPr sz="2200" b="0">
                <a:solidFill>
                  <a:srgbClr val="1A2744"/>
                </a:solidFill>
                <a:latin typeface="Arial"/>
              </a:rPr>
              <a:t>•  Which system is the </a:t>
            </a:r>
            <a:r>
              <a:rPr sz="2200" b="1">
                <a:solidFill>
                  <a:srgbClr val="1A2744"/>
                </a:solidFill>
                <a:latin typeface="Arial"/>
              </a:rPr>
              <a:t>book of record</a:t>
            </a:r>
            <a:r>
              <a:rPr sz="2200" b="0">
                <a:solidFill>
                  <a:srgbClr val="1A2744"/>
                </a:solidFill>
                <a:latin typeface="Arial"/>
              </a:rPr>
              <a:t> for each data element during coexistence?</a:t>
            </a:r>
          </a:p>
          <a:p>
            <a:pPr>
              <a:spcAft>
                <a:spcPts val="800"/>
              </a:spcAft>
            </a:pPr>
            <a:r>
              <a:rPr sz="2200" b="0">
                <a:solidFill>
                  <a:srgbClr val="1A2744"/>
                </a:solidFill>
                <a:latin typeface="Arial"/>
              </a:rPr>
              <a:t>•  What is the </a:t>
            </a:r>
            <a:r>
              <a:rPr sz="2200" b="1">
                <a:solidFill>
                  <a:srgbClr val="1A2744"/>
                </a:solidFill>
                <a:latin typeface="Arial"/>
              </a:rPr>
              <a:t>tolerance policy</a:t>
            </a:r>
            <a:r>
              <a:rPr sz="2200" b="0">
                <a:solidFill>
                  <a:srgbClr val="1A2744"/>
                </a:solidFill>
                <a:latin typeface="Arial"/>
              </a:rPr>
              <a:t> for reconciliation differences, and who signs it off?</a:t>
            </a:r>
          </a:p>
          <a:p>
            <a:pPr>
              <a:spcAft>
                <a:spcPts val="800"/>
              </a:spcAft>
            </a:pPr>
            <a:r>
              <a:rPr sz="2200" b="0">
                <a:solidFill>
                  <a:srgbClr val="1A2744"/>
                </a:solidFill>
                <a:latin typeface="Arial"/>
              </a:rPr>
              <a:t>•  Which </a:t>
            </a:r>
            <a:r>
              <a:rPr sz="2200" b="1">
                <a:solidFill>
                  <a:srgbClr val="1A2744"/>
                </a:solidFill>
                <a:latin typeface="Arial"/>
              </a:rPr>
              <a:t>AI models and hosting</a:t>
            </a:r>
            <a:r>
              <a:rPr sz="2200" b="0">
                <a:solidFill>
                  <a:srgbClr val="1A2744"/>
                </a:solidFill>
                <a:latin typeface="Arial"/>
              </a:rPr>
              <a:t> are approved by security, risk and procurement?</a:t>
            </a:r>
          </a:p>
          <a:p>
            <a:pPr>
              <a:spcAft>
                <a:spcPts val="800"/>
              </a:spcAft>
            </a:pPr>
            <a:r>
              <a:rPr sz="2200" b="0">
                <a:solidFill>
                  <a:srgbClr val="1A2744"/>
                </a:solidFill>
                <a:latin typeface="Arial"/>
              </a:rPr>
              <a:t>•  What are the </a:t>
            </a:r>
            <a:r>
              <a:rPr sz="2200" b="1">
                <a:solidFill>
                  <a:srgbClr val="1A2744"/>
                </a:solidFill>
                <a:latin typeface="Arial"/>
              </a:rPr>
              <a:t>regulatory notification</a:t>
            </a:r>
            <a:r>
              <a:rPr sz="2200" b="0">
                <a:solidFill>
                  <a:srgbClr val="1A2744"/>
                </a:solidFill>
                <a:latin typeface="Arial"/>
              </a:rPr>
              <a:t> requirements for material ICT changes?</a:t>
            </a:r>
          </a:p>
          <a:p>
            <a:pPr>
              <a:spcAft>
                <a:spcPts val="800"/>
              </a:spcAft>
            </a:pPr>
            <a:r>
              <a:rPr sz="2200" b="0">
                <a:solidFill>
                  <a:srgbClr val="1A2744"/>
                </a:solidFill>
                <a:latin typeface="Arial"/>
              </a:rPr>
              <a:t>•  What is the </a:t>
            </a:r>
            <a:r>
              <a:rPr sz="2200" b="1">
                <a:solidFill>
                  <a:srgbClr val="1A2744"/>
                </a:solidFill>
                <a:latin typeface="Arial"/>
              </a:rPr>
              <a:t>decommissioning date</a:t>
            </a:r>
            <a:r>
              <a:rPr sz="2200" b="0">
                <a:solidFill>
                  <a:srgbClr val="1A2744"/>
                </a:solidFill>
                <a:latin typeface="Arial"/>
              </a:rPr>
              <a:t> for each migrated component?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TextBox 1"/>
          <p:cNvSpPr txBox="1"/>
          <p:nvPr/>
        </p:nvSpPr>
        <p:spPr>
          <a:xfrm>
            <a:off x="1097280" y="731520"/>
            <a:ext cx="9997135" cy="5394960"/>
          </a:xfrm>
          <a:prstGeom prst="rect">
            <a:avLst/>
          </a:prstGeom>
          <a:noFill/>
        </p:spPr>
        <p:txBody>
          <a:bodyPr wrap="square" lIns="45720" rIns="45720" anchor="ctr">
            <a:spAutoFit/>
          </a:bodyPr>
          <a:lstStyle/>
          <a:p>
            <a:pPr algn="ctr">
              <a:spcAft>
                <a:spcPts val="1800"/>
              </a:spcAft>
            </a:pPr>
            <a:r>
              <a:rPr sz="4000" b="1">
                <a:solidFill>
                  <a:srgbClr val="4ECDC4"/>
                </a:solidFill>
                <a:latin typeface="Arial"/>
              </a:rPr>
              <a:t>Key message</a:t>
            </a:r>
          </a:p>
          <a:p>
            <a:pPr algn="ctr">
              <a:spcAft>
                <a:spcPts val="1400"/>
              </a:spcAft>
            </a:pPr>
            <a:r>
              <a:rPr sz="2200" b="0">
                <a:solidFill>
                  <a:srgbClr val="FFFFFF"/>
                </a:solidFill>
                <a:latin typeface="Arial"/>
              </a:rPr>
              <a:t>Turn undocumented legacy banking systems into </a:t>
            </a:r>
            <a:r>
              <a:rPr sz="2200" b="1">
                <a:solidFill>
                  <a:srgbClr val="FFFFFF"/>
                </a:solidFill>
                <a:latin typeface="Arial"/>
              </a:rPr>
              <a:t>understandable, testable and incrementally modernizable</a:t>
            </a:r>
            <a:r>
              <a:rPr sz="2200" b="0">
                <a:solidFill>
                  <a:srgbClr val="FFFFFF"/>
                </a:solidFill>
                <a:latin typeface="Arial"/>
              </a:rPr>
              <a:t> business capabilities, while preserving financial correctness and operational risk controls.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TextBox 1"/>
          <p:cNvSpPr txBox="1"/>
          <p:nvPr/>
        </p:nvSpPr>
        <p:spPr>
          <a:xfrm>
            <a:off x="1097280" y="731520"/>
            <a:ext cx="9997135" cy="5394960"/>
          </a:xfrm>
          <a:prstGeom prst="rect">
            <a:avLst/>
          </a:prstGeom>
          <a:noFill/>
        </p:spPr>
        <p:txBody>
          <a:bodyPr wrap="square" lIns="45720" rIns="45720" anchor="ctr">
            <a:spAutoFit/>
          </a:bodyPr>
          <a:lstStyle/>
          <a:p>
            <a:pPr algn="ctr">
              <a:spcAft>
                <a:spcPts val="1800"/>
              </a:spcAft>
            </a:pPr>
            <a:r>
              <a:rPr sz="4000" b="1">
                <a:solidFill>
                  <a:srgbClr val="4ECDC4"/>
                </a:solidFill>
                <a:latin typeface="Arial"/>
              </a:rPr>
              <a:t>Resources</a:t>
            </a:r>
          </a:p>
          <a:p>
            <a:pPr algn="ctr"/>
            <a:r>
              <a:rPr sz="2200" b="1">
                <a:solidFill>
                  <a:srgbClr val="FFFFFF"/>
                </a:solidFill>
                <a:latin typeface="Arial"/>
              </a:rPr>
              <a:t>Repo (context, rule catalog, COBOL and Java examples):</a:t>
            </a:r>
          </a:p>
          <a:p>
            <a:pPr algn="ctr">
              <a:spcAft>
                <a:spcPts val="1400"/>
              </a:spcAft>
            </a:pPr>
            <a:r>
              <a:rPr sz="2200" b="0">
                <a:solidFill>
                  <a:srgbClr val="FFFFFF"/>
                </a:solidFill>
                <a:latin typeface="Arial"/>
              </a:rPr>
              <a:t>github.com/wallaceespindola/banking-modernization-with-ai</a:t>
            </a:r>
          </a:p>
          <a:p>
            <a:pPr algn="ctr"/>
            <a:r>
              <a:rPr sz="2200" b="1">
                <a:solidFill>
                  <a:srgbClr val="FFFFFF"/>
                </a:solidFill>
                <a:latin typeface="Arial"/>
              </a:rPr>
              <a:t>Wallace Espindola</a:t>
            </a:r>
            <a:r>
              <a:rPr sz="2200" b="0">
                <a:solidFill>
                  <a:srgbClr val="FFFFFF"/>
                </a:solidFill>
                <a:latin typeface="Arial"/>
              </a:rPr>
              <a:t>, Solution Architect</a:t>
            </a:r>
          </a:p>
          <a:p>
            <a:pPr algn="ctr"/>
            <a:r>
              <a:rPr sz="2200" b="0">
                <a:solidFill>
                  <a:srgbClr val="FFFFFF"/>
                </a:solidFill>
                <a:latin typeface="Arial"/>
              </a:rPr>
              <a:t>GitHub: github.com/wallaceespindola</a:t>
            </a:r>
          </a:p>
          <a:p>
            <a:pPr algn="ctr"/>
            <a:r>
              <a:rPr sz="2200" b="0">
                <a:solidFill>
                  <a:srgbClr val="FFFFFF"/>
                </a:solidFill>
                <a:latin typeface="Arial"/>
              </a:rPr>
              <a:t>LinkedIn: linkedin.com/in/wallaceespindola</a:t>
            </a:r>
          </a:p>
          <a:p>
            <a:pPr algn="ctr">
              <a:spcAft>
                <a:spcPts val="1400"/>
              </a:spcAft>
            </a:pPr>
            <a:r>
              <a:rPr sz="2200" b="0">
                <a:solidFill>
                  <a:srgbClr val="FFFFFF"/>
                </a:solidFill>
                <a:latin typeface="Arial"/>
              </a:rPr>
              <a:t>Speaker Deck: speakerdeck.com/wallacese</a:t>
            </a:r>
          </a:p>
          <a:p>
            <a:pPr algn="ctr">
              <a:spcAft>
                <a:spcPts val="1400"/>
              </a:spcAft>
            </a:pPr>
            <a:r>
              <a:rPr sz="2200" b="0" i="1">
                <a:solidFill>
                  <a:srgbClr val="FFFFFF"/>
                </a:solidFill>
                <a:latin typeface="Arial"/>
              </a:rPr>
              <a:t>Thanks!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